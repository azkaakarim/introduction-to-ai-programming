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21"/>
  </p:notesMasterIdLst>
  <p:handoutMasterIdLst>
    <p:handoutMasterId r:id="rId22"/>
  </p:handoutMasterIdLst>
  <p:sldIdLst>
    <p:sldId id="256" r:id="rId5"/>
    <p:sldId id="272" r:id="rId6"/>
    <p:sldId id="266" r:id="rId7"/>
    <p:sldId id="270" r:id="rId8"/>
    <p:sldId id="291" r:id="rId9"/>
    <p:sldId id="278" r:id="rId10"/>
    <p:sldId id="287" r:id="rId11"/>
    <p:sldId id="288" r:id="rId12"/>
    <p:sldId id="289" r:id="rId13"/>
    <p:sldId id="292" r:id="rId14"/>
    <p:sldId id="293" r:id="rId15"/>
    <p:sldId id="294" r:id="rId16"/>
    <p:sldId id="295" r:id="rId17"/>
    <p:sldId id="297" r:id="rId18"/>
    <p:sldId id="298" r:id="rId19"/>
    <p:sldId id="26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67463" autoAdjust="0"/>
  </p:normalViewPr>
  <p:slideViewPr>
    <p:cSldViewPr snapToGrid="0">
      <p:cViewPr varScale="1">
        <p:scale>
          <a:sx n="71" d="100"/>
          <a:sy n="71" d="100"/>
        </p:scale>
        <p:origin x="696" y="78"/>
      </p:cViewPr>
      <p:guideLst/>
    </p:cSldViewPr>
  </p:slideViewPr>
  <p:notesTextViewPr>
    <p:cViewPr>
      <p:scale>
        <a:sx n="1" d="1"/>
        <a:sy n="1" d="1"/>
      </p:scale>
      <p:origin x="0" y="0"/>
    </p:cViewPr>
  </p:notesTextViewPr>
  <p:notesViewPr>
    <p:cSldViewPr snapToGrid="0">
      <p:cViewPr varScale="1">
        <p:scale>
          <a:sx n="60" d="100"/>
          <a:sy n="60" d="100"/>
        </p:scale>
        <p:origin x="1670"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A2E547D-1406-4A6F-8F93-E441204CE6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667F8A-B889-49B3-AC77-5DDF11A08A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B2889B-A0AC-4482-8592-5C96F2309420}" type="datetimeFigureOut">
              <a:rPr lang="en-US" smtClean="0"/>
              <a:t>10/2/2025</a:t>
            </a:fld>
            <a:endParaRPr lang="en-US"/>
          </a:p>
        </p:txBody>
      </p:sp>
      <p:sp>
        <p:nvSpPr>
          <p:cNvPr id="4" name="Footer Placeholder 3">
            <a:extLst>
              <a:ext uri="{FF2B5EF4-FFF2-40B4-BE49-F238E27FC236}">
                <a16:creationId xmlns:a16="http://schemas.microsoft.com/office/drawing/2014/main" id="{567AFD4F-C0E7-421C-AF77-6F9CC963C9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074AB9F-6726-4FB1-8769-82E23336CE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529299-61FF-4B93-ADA6-2FD5975D62F6}" type="slidenum">
              <a:rPr lang="en-US" smtClean="0"/>
              <a:t>‹#›</a:t>
            </a:fld>
            <a:endParaRPr lang="en-US"/>
          </a:p>
        </p:txBody>
      </p:sp>
    </p:spTree>
    <p:extLst>
      <p:ext uri="{BB962C8B-B14F-4D97-AF65-F5344CB8AC3E}">
        <p14:creationId xmlns:p14="http://schemas.microsoft.com/office/powerpoint/2010/main" val="1416270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EB223-FFC0-462A-A3B8-EAA7CE0F8CBD}" type="datetimeFigureOut">
              <a:rPr lang="en-US" smtClean="0"/>
              <a:t>10/2/2025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849E9A-41F7-4779-A581-48A7C374A227}" type="slidenum">
              <a:rPr lang="en-US" smtClean="0"/>
              <a:t>‹#›</a:t>
            </a:fld>
            <a:endParaRPr lang="en-US" dirty="0"/>
          </a:p>
        </p:txBody>
      </p:sp>
    </p:spTree>
    <p:extLst>
      <p:ext uri="{BB962C8B-B14F-4D97-AF65-F5344CB8AC3E}">
        <p14:creationId xmlns:p14="http://schemas.microsoft.com/office/powerpoint/2010/main" val="1155518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When conducting research, it is easy to go to one source: Wikipedia.  However, you need to include a variety of sources in your research. Consider the following sources: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Who can I interview to get more information on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 topic current and will it be relevant to my audience?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articles, blogs, and magazines may have something related to my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there a YouTube video on the topic? If so, what is it about?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images can I find related to the topic?</a:t>
            </a:r>
          </a:p>
        </p:txBody>
      </p:sp>
      <p:sp>
        <p:nvSpPr>
          <p:cNvPr id="4" name="Slide Number Placeholder 3"/>
          <p:cNvSpPr>
            <a:spLocks noGrp="1"/>
          </p:cNvSpPr>
          <p:nvPr>
            <p:ph type="sldNum" sz="quarter" idx="10"/>
          </p:nvPr>
        </p:nvSpPr>
        <p:spPr/>
        <p:txBody>
          <a:bodyPr/>
          <a:lstStyle/>
          <a:p>
            <a:fld id="{BC849E9A-41F7-4779-A581-48A7C374A227}" type="slidenum">
              <a:rPr lang="en-US" smtClean="0"/>
              <a:t>3</a:t>
            </a:fld>
            <a:endParaRPr lang="en-US" dirty="0"/>
          </a:p>
        </p:txBody>
      </p:sp>
    </p:spTree>
    <p:extLst>
      <p:ext uri="{BB962C8B-B14F-4D97-AF65-F5344CB8AC3E}">
        <p14:creationId xmlns:p14="http://schemas.microsoft.com/office/powerpoint/2010/main" val="2295961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latin typeface="Segoe UI" panose="020B0502040204020203" pitchFamily="34" charset="0"/>
                <a:cs typeface="Segoe UI" panose="020B0502040204020203" pitchFamily="34" charset="0"/>
              </a:rPr>
              <a:t>Once you find your sources, you will want to evaluate your sources using the following questions: </a:t>
            </a:r>
          </a:p>
          <a:p>
            <a:endParaRPr lang="en-US" i="0" dirty="0">
              <a:latin typeface="Segoe UI" panose="020B0502040204020203" pitchFamily="34" charset="0"/>
              <a:cs typeface="Segoe UI" panose="020B0502040204020203" pitchFamily="34" charset="0"/>
            </a:endParaRPr>
          </a:p>
          <a:p>
            <a:r>
              <a:rPr lang="en-US" b="1" i="0" dirty="0">
                <a:latin typeface="Segoe UI" panose="020B0502040204020203" pitchFamily="34" charset="0"/>
                <a:cs typeface="Segoe UI" panose="020B0502040204020203" pitchFamily="34" charset="0"/>
              </a:rPr>
              <a:t>Author: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Who is the author?</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Why should I believe what he or she has to say on the topic?</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author seen as an expert on the topic? How do you know?</a:t>
            </a:r>
          </a:p>
          <a:p>
            <a:pPr marL="171450" indent="-171450">
              <a:buFont typeface="Arial" panose="020B0604020202020204" pitchFamily="34" charset="0"/>
              <a:buChar char="•"/>
            </a:pPr>
            <a:endParaRPr lang="en-US"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Current: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How current is the information in the source?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When was the source published?</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out-of-date?</a:t>
            </a:r>
          </a:p>
          <a:p>
            <a:pPr marL="171450" indent="-171450">
              <a:buFont typeface="Arial" panose="020B0604020202020204" pitchFamily="34" charset="0"/>
              <a:buChar char="•"/>
            </a:pPr>
            <a:endParaRPr lang="en-US" b="1"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Accuracy: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content accurate?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presented objectively?  Do they share the pros and cons?</a:t>
            </a:r>
          </a:p>
        </p:txBody>
      </p:sp>
      <p:sp>
        <p:nvSpPr>
          <p:cNvPr id="4" name="Slide Number Placeholder 3"/>
          <p:cNvSpPr>
            <a:spLocks noGrp="1"/>
          </p:cNvSpPr>
          <p:nvPr>
            <p:ph type="sldNum" sz="quarter" idx="10"/>
          </p:nvPr>
        </p:nvSpPr>
        <p:spPr/>
        <p:txBody>
          <a:bodyPr/>
          <a:lstStyle/>
          <a:p>
            <a:fld id="{BC849E9A-41F7-4779-A581-48A7C374A227}" type="slidenum">
              <a:rPr lang="en-US" smtClean="0"/>
              <a:t>4</a:t>
            </a:fld>
            <a:endParaRPr lang="en-US" dirty="0"/>
          </a:p>
        </p:txBody>
      </p:sp>
    </p:spTree>
    <p:extLst>
      <p:ext uri="{BB962C8B-B14F-4D97-AF65-F5344CB8AC3E}">
        <p14:creationId xmlns:p14="http://schemas.microsoft.com/office/powerpoint/2010/main" val="898123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When conducting research, it is easy to go to one source: Wikipedia.  However, you need to include a variety of sources in your research. Consider the following sources: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Who can I interview to get more information on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 topic current and will it be relevant to my audience?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articles, blogs, and magazines may have something related to my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there a YouTube video on the topic? If so, what is it about?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images can I find related to the topic?</a:t>
            </a:r>
          </a:p>
        </p:txBody>
      </p:sp>
      <p:sp>
        <p:nvSpPr>
          <p:cNvPr id="4" name="Slide Number Placeholder 3"/>
          <p:cNvSpPr>
            <a:spLocks noGrp="1"/>
          </p:cNvSpPr>
          <p:nvPr>
            <p:ph type="sldNum" sz="quarter" idx="10"/>
          </p:nvPr>
        </p:nvSpPr>
        <p:spPr/>
        <p:txBody>
          <a:bodyPr/>
          <a:lstStyle/>
          <a:p>
            <a:fld id="{BC849E9A-41F7-4779-A581-48A7C374A227}" type="slidenum">
              <a:rPr lang="en-US" smtClean="0"/>
              <a:t>5</a:t>
            </a:fld>
            <a:endParaRPr lang="en-US" dirty="0"/>
          </a:p>
        </p:txBody>
      </p:sp>
    </p:spTree>
    <p:extLst>
      <p:ext uri="{BB962C8B-B14F-4D97-AF65-F5344CB8AC3E}">
        <p14:creationId xmlns:p14="http://schemas.microsoft.com/office/powerpoint/2010/main" val="358737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Now, that you have narrowed your topic, you will want to organize your research in a structure that works.  There are some common organizational patterns based on the kind of research you are doing.  </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Organizational Structures: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Cause and Effect- this kind of structure is great for explaining the causes and effects of a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Compare and Contrast- in this pattern you highlight the similarities and differences of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Explain process- this structure is great for outlining a series of steps to follow;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Definition- if you want to make sure your audience understands what something is using illustrations, meanings, clarifying misconceptions, you may want to use this structure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Classification- a common organizational structure is grouping like topics or facts from the research together.  For instance, in the internet safety about social media apps, you may organize the research where you look at each social media app one at a time</a:t>
            </a:r>
          </a:p>
        </p:txBody>
      </p:sp>
      <p:sp>
        <p:nvSpPr>
          <p:cNvPr id="4" name="Slide Number Placeholder 3"/>
          <p:cNvSpPr>
            <a:spLocks noGrp="1"/>
          </p:cNvSpPr>
          <p:nvPr>
            <p:ph type="sldNum" sz="quarter" idx="10"/>
          </p:nvPr>
        </p:nvSpPr>
        <p:spPr/>
        <p:txBody>
          <a:bodyPr/>
          <a:lstStyle/>
          <a:p>
            <a:fld id="{BC849E9A-41F7-4779-A581-48A7C374A227}" type="slidenum">
              <a:rPr lang="en-US" smtClean="0"/>
              <a:t>6</a:t>
            </a:fld>
            <a:endParaRPr lang="en-US" dirty="0"/>
          </a:p>
        </p:txBody>
      </p:sp>
    </p:spTree>
    <p:extLst>
      <p:ext uri="{BB962C8B-B14F-4D97-AF65-F5344CB8AC3E}">
        <p14:creationId xmlns:p14="http://schemas.microsoft.com/office/powerpoint/2010/main" val="704925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When conducting research, it is easy to go to one source: Wikipedia.  However, you need to include a variety of sources in your research. Consider the following sources: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Who can I interview to get more information on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 topic current and will it be relevant to my audience?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articles, blogs, and magazines may have something related to my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there a YouTube video on the topic? If so, what is it about?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images can I find related to the topic?</a:t>
            </a:r>
          </a:p>
        </p:txBody>
      </p:sp>
      <p:sp>
        <p:nvSpPr>
          <p:cNvPr id="4" name="Slide Number Placeholder 3"/>
          <p:cNvSpPr>
            <a:spLocks noGrp="1"/>
          </p:cNvSpPr>
          <p:nvPr>
            <p:ph type="sldNum" sz="quarter" idx="10"/>
          </p:nvPr>
        </p:nvSpPr>
        <p:spPr/>
        <p:txBody>
          <a:bodyPr/>
          <a:lstStyle/>
          <a:p>
            <a:fld id="{BC849E9A-41F7-4779-A581-48A7C374A227}" type="slidenum">
              <a:rPr lang="en-US" smtClean="0"/>
              <a:t>7</a:t>
            </a:fld>
            <a:endParaRPr lang="en-US" dirty="0"/>
          </a:p>
        </p:txBody>
      </p:sp>
    </p:spTree>
    <p:extLst>
      <p:ext uri="{BB962C8B-B14F-4D97-AF65-F5344CB8AC3E}">
        <p14:creationId xmlns:p14="http://schemas.microsoft.com/office/powerpoint/2010/main" val="624778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When conducting research, it is easy to go to one source: Wikipedia.  However, you need to include a variety of sources in your research. Consider the following sources: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Who can I interview to get more information on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 topic current and will it be relevant to my audience?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articles, blogs, and magazines may have something related to my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there a YouTube video on the topic? If so, what is it about?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images can I find related to the topic?</a:t>
            </a:r>
          </a:p>
        </p:txBody>
      </p:sp>
      <p:sp>
        <p:nvSpPr>
          <p:cNvPr id="4" name="Slide Number Placeholder 3"/>
          <p:cNvSpPr>
            <a:spLocks noGrp="1"/>
          </p:cNvSpPr>
          <p:nvPr>
            <p:ph type="sldNum" sz="quarter" idx="10"/>
          </p:nvPr>
        </p:nvSpPr>
        <p:spPr/>
        <p:txBody>
          <a:bodyPr/>
          <a:lstStyle/>
          <a:p>
            <a:fld id="{BC849E9A-41F7-4779-A581-48A7C374A227}" type="slidenum">
              <a:rPr lang="en-US" smtClean="0"/>
              <a:t>8</a:t>
            </a:fld>
            <a:endParaRPr lang="en-US" dirty="0"/>
          </a:p>
        </p:txBody>
      </p:sp>
    </p:spTree>
    <p:extLst>
      <p:ext uri="{BB962C8B-B14F-4D97-AF65-F5344CB8AC3E}">
        <p14:creationId xmlns:p14="http://schemas.microsoft.com/office/powerpoint/2010/main" val="488862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When conducting research, it is easy to go to one source: Wikipedia.  However, you need to include a variety of sources in your research. Consider the following sources: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Who can I interview to get more information on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 topic current and will it be relevant to my audience?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articles, blogs, and magazines may have something related to my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there a YouTube video on the topic? If so, what is it about?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images can I find related to the topic?</a:t>
            </a:r>
          </a:p>
        </p:txBody>
      </p:sp>
      <p:sp>
        <p:nvSpPr>
          <p:cNvPr id="4" name="Slide Number Placeholder 3"/>
          <p:cNvSpPr>
            <a:spLocks noGrp="1"/>
          </p:cNvSpPr>
          <p:nvPr>
            <p:ph type="sldNum" sz="quarter" idx="10"/>
          </p:nvPr>
        </p:nvSpPr>
        <p:spPr/>
        <p:txBody>
          <a:bodyPr/>
          <a:lstStyle/>
          <a:p>
            <a:fld id="{BC849E9A-41F7-4779-A581-48A7C374A227}" type="slidenum">
              <a:rPr lang="en-US" smtClean="0"/>
              <a:t>9</a:t>
            </a:fld>
            <a:endParaRPr lang="en-US" dirty="0"/>
          </a:p>
        </p:txBody>
      </p:sp>
    </p:spTree>
    <p:extLst>
      <p:ext uri="{BB962C8B-B14F-4D97-AF65-F5344CB8AC3E}">
        <p14:creationId xmlns:p14="http://schemas.microsoft.com/office/powerpoint/2010/main" val="13841049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When conducting research, it is easy to go to one source: Wikipedia.  However, you need to include a variety of sources in your research. Consider the following sources: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Who can I interview to get more information on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 topic current and will it be relevant to my audience?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articles, blogs, and magazines may have something related to my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there a YouTube video on the topic? If so, what is it about?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images can I find related to the topic?</a:t>
            </a:r>
          </a:p>
        </p:txBody>
      </p:sp>
      <p:sp>
        <p:nvSpPr>
          <p:cNvPr id="4" name="Slide Number Placeholder 3"/>
          <p:cNvSpPr>
            <a:spLocks noGrp="1"/>
          </p:cNvSpPr>
          <p:nvPr>
            <p:ph type="sldNum" sz="quarter" idx="10"/>
          </p:nvPr>
        </p:nvSpPr>
        <p:spPr/>
        <p:txBody>
          <a:bodyPr/>
          <a:lstStyle/>
          <a:p>
            <a:fld id="{BC849E9A-41F7-4779-A581-48A7C374A227}" type="slidenum">
              <a:rPr lang="en-US" smtClean="0"/>
              <a:t>10</a:t>
            </a:fld>
            <a:endParaRPr lang="en-US" dirty="0"/>
          </a:p>
        </p:txBody>
      </p:sp>
    </p:spTree>
    <p:extLst>
      <p:ext uri="{BB962C8B-B14F-4D97-AF65-F5344CB8AC3E}">
        <p14:creationId xmlns:p14="http://schemas.microsoft.com/office/powerpoint/2010/main" val="918479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When conducting research, it is easy to go to one source: Wikipedia.  However, you need to include a variety of sources in your research. Consider the following sources: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Who can I interview to get more information on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 topic current and will it be relevant to my audience?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articles, blogs, and magazines may have something related to my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there a YouTube video on the topic? If so, what is it about?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images can I find related to the topic?</a:t>
            </a:r>
          </a:p>
        </p:txBody>
      </p:sp>
      <p:sp>
        <p:nvSpPr>
          <p:cNvPr id="4" name="Slide Number Placeholder 3"/>
          <p:cNvSpPr>
            <a:spLocks noGrp="1"/>
          </p:cNvSpPr>
          <p:nvPr>
            <p:ph type="sldNum" sz="quarter" idx="10"/>
          </p:nvPr>
        </p:nvSpPr>
        <p:spPr/>
        <p:txBody>
          <a:bodyPr/>
          <a:lstStyle/>
          <a:p>
            <a:fld id="{BC849E9A-41F7-4779-A581-48A7C374A227}" type="slidenum">
              <a:rPr lang="en-US" smtClean="0"/>
              <a:t>11</a:t>
            </a:fld>
            <a:endParaRPr lang="en-US" dirty="0"/>
          </a:p>
        </p:txBody>
      </p:sp>
    </p:spTree>
    <p:extLst>
      <p:ext uri="{BB962C8B-B14F-4D97-AF65-F5344CB8AC3E}">
        <p14:creationId xmlns:p14="http://schemas.microsoft.com/office/powerpoint/2010/main" val="3922582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When conducting research, it is easy to go to one source: Wikipedia.  However, you need to include a variety of sources in your research. Consider the following sources: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Who can I interview to get more information on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 topic current and will it be relevant to my audience?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articles, blogs, and magazines may have something related to my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there a YouTube video on the topic? If so, what is it about?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images can I find related to the topic?</a:t>
            </a:r>
          </a:p>
        </p:txBody>
      </p:sp>
      <p:sp>
        <p:nvSpPr>
          <p:cNvPr id="4" name="Slide Number Placeholder 3"/>
          <p:cNvSpPr>
            <a:spLocks noGrp="1"/>
          </p:cNvSpPr>
          <p:nvPr>
            <p:ph type="sldNum" sz="quarter" idx="10"/>
          </p:nvPr>
        </p:nvSpPr>
        <p:spPr/>
        <p:txBody>
          <a:bodyPr/>
          <a:lstStyle/>
          <a:p>
            <a:fld id="{BC849E9A-41F7-4779-A581-48A7C374A227}" type="slidenum">
              <a:rPr lang="en-US" smtClean="0"/>
              <a:t>12</a:t>
            </a:fld>
            <a:endParaRPr lang="en-US" dirty="0"/>
          </a:p>
        </p:txBody>
      </p:sp>
    </p:spTree>
    <p:extLst>
      <p:ext uri="{BB962C8B-B14F-4D97-AF65-F5344CB8AC3E}">
        <p14:creationId xmlns:p14="http://schemas.microsoft.com/office/powerpoint/2010/main" val="2202798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When conducting research, it is easy to go to one source: Wikipedia.  However, you need to include a variety of sources in your research. Consider the following sources: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Who can I interview to get more information on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 topic current and will it be relevant to my audience?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articles, blogs, and magazines may have something related to my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there a YouTube video on the topic? If so, what is it about?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images can I find related to the topic?</a:t>
            </a:r>
          </a:p>
        </p:txBody>
      </p:sp>
      <p:sp>
        <p:nvSpPr>
          <p:cNvPr id="4" name="Slide Number Placeholder 3"/>
          <p:cNvSpPr>
            <a:spLocks noGrp="1"/>
          </p:cNvSpPr>
          <p:nvPr>
            <p:ph type="sldNum" sz="quarter" idx="10"/>
          </p:nvPr>
        </p:nvSpPr>
        <p:spPr/>
        <p:txBody>
          <a:bodyPr/>
          <a:lstStyle/>
          <a:p>
            <a:fld id="{BC849E9A-41F7-4779-A581-48A7C374A227}" type="slidenum">
              <a:rPr lang="en-US" smtClean="0"/>
              <a:t>13</a:t>
            </a:fld>
            <a:endParaRPr lang="en-US" dirty="0"/>
          </a:p>
        </p:txBody>
      </p:sp>
    </p:spTree>
    <p:extLst>
      <p:ext uri="{BB962C8B-B14F-4D97-AF65-F5344CB8AC3E}">
        <p14:creationId xmlns:p14="http://schemas.microsoft.com/office/powerpoint/2010/main" val="30312748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When conducting research, it is easy to go to one source: Wikipedia.  However, you need to include a variety of sources in your research. Consider the following sources: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Who can I interview to get more information on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 topic current and will it be relevant to my audience?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articles, blogs, and magazines may have something related to my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there a YouTube video on the topic? If so, what is it about?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images can I find related to the topic?</a:t>
            </a:r>
          </a:p>
        </p:txBody>
      </p:sp>
      <p:sp>
        <p:nvSpPr>
          <p:cNvPr id="4" name="Slide Number Placeholder 3"/>
          <p:cNvSpPr>
            <a:spLocks noGrp="1"/>
          </p:cNvSpPr>
          <p:nvPr>
            <p:ph type="sldNum" sz="quarter" idx="10"/>
          </p:nvPr>
        </p:nvSpPr>
        <p:spPr/>
        <p:txBody>
          <a:bodyPr/>
          <a:lstStyle/>
          <a:p>
            <a:fld id="{BC849E9A-41F7-4779-A581-48A7C374A227}" type="slidenum">
              <a:rPr lang="en-US" smtClean="0"/>
              <a:t>14</a:t>
            </a:fld>
            <a:endParaRPr lang="en-US" dirty="0"/>
          </a:p>
        </p:txBody>
      </p:sp>
    </p:spTree>
    <p:extLst>
      <p:ext uri="{BB962C8B-B14F-4D97-AF65-F5344CB8AC3E}">
        <p14:creationId xmlns:p14="http://schemas.microsoft.com/office/powerpoint/2010/main" val="28409494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When conducting research, it is easy to go to one source: Wikipedia.  However, you need to include a variety of sources in your research. Consider the following sources: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Who can I interview to get more information on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 topic current and will it be relevant to my audience?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articles, blogs, and magazines may have something related to my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there a YouTube video on the topic? If so, what is it about?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images can I find related to the topic?</a:t>
            </a:r>
          </a:p>
        </p:txBody>
      </p:sp>
      <p:sp>
        <p:nvSpPr>
          <p:cNvPr id="4" name="Slide Number Placeholder 3"/>
          <p:cNvSpPr>
            <a:spLocks noGrp="1"/>
          </p:cNvSpPr>
          <p:nvPr>
            <p:ph type="sldNum" sz="quarter" idx="10"/>
          </p:nvPr>
        </p:nvSpPr>
        <p:spPr/>
        <p:txBody>
          <a:bodyPr/>
          <a:lstStyle/>
          <a:p>
            <a:fld id="{BC849E9A-41F7-4779-A581-48A7C374A227}" type="slidenum">
              <a:rPr lang="en-US" smtClean="0"/>
              <a:t>15</a:t>
            </a:fld>
            <a:endParaRPr lang="en-US" dirty="0"/>
          </a:p>
        </p:txBody>
      </p:sp>
    </p:spTree>
    <p:extLst>
      <p:ext uri="{BB962C8B-B14F-4D97-AF65-F5344CB8AC3E}">
        <p14:creationId xmlns:p14="http://schemas.microsoft.com/office/powerpoint/2010/main" val="13759426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You can use this slide as your opening or closing slide.  Should you choose to use it as a closing, make sure you review the main points of your presentation.  One creative way to do that is by adding animations to the various graphics on a slide.  This slide has 4 different graphics, and, when you view the slideshow, you will see that you can click to reveal the next graphic.  Similarly, as you review the main topics in your presentation, you may want each point to show up when you are addressing that topic. </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Add animation to images and graphics: </a:t>
            </a:r>
          </a:p>
          <a:p>
            <a:pPr marL="228600" indent="-228600">
              <a:buAutoNum type="arabicPeriod"/>
            </a:pPr>
            <a:r>
              <a:rPr lang="en-US" dirty="0">
                <a:latin typeface="Segoe UI" panose="020B0502040204020203" pitchFamily="34" charset="0"/>
                <a:cs typeface="Segoe UI" panose="020B0502040204020203" pitchFamily="34" charset="0"/>
              </a:rPr>
              <a:t>Select your image or graphic.</a:t>
            </a:r>
          </a:p>
          <a:p>
            <a:pPr marL="228600" indent="-228600">
              <a:buAutoNum type="arabicPeriod"/>
            </a:pPr>
            <a:r>
              <a:rPr lang="en-US" dirty="0">
                <a:latin typeface="Segoe UI" panose="020B0502040204020203" pitchFamily="34" charset="0"/>
                <a:cs typeface="Segoe UI" panose="020B0502040204020203" pitchFamily="34" charset="0"/>
              </a:rPr>
              <a:t>Click on the Animations tab.</a:t>
            </a:r>
          </a:p>
          <a:p>
            <a:pPr marL="228600" indent="-228600">
              <a:buAutoNum type="arabicPeriod"/>
            </a:pPr>
            <a:r>
              <a:rPr lang="en-US" dirty="0">
                <a:latin typeface="Segoe UI" panose="020B0502040204020203" pitchFamily="34" charset="0"/>
                <a:cs typeface="Segoe UI" panose="020B0502040204020203" pitchFamily="34" charset="0"/>
              </a:rPr>
              <a:t>Choose from the options.  The animation for this slide is “Split”.  The drop-down menu in the Animation section gives even more animations you can use.</a:t>
            </a:r>
          </a:p>
          <a:p>
            <a:pPr marL="228600" indent="-228600">
              <a:buAutoNum type="arabicPeriod"/>
            </a:pPr>
            <a:r>
              <a:rPr lang="en-US" dirty="0">
                <a:latin typeface="Segoe UI" panose="020B0502040204020203" pitchFamily="34" charset="0"/>
                <a:cs typeface="Segoe UI" panose="020B0502040204020203" pitchFamily="34" charset="0"/>
              </a:rPr>
              <a:t>If you have multiple graphics or images, you will see a number appear next to it that notes the order of the animations.</a:t>
            </a:r>
          </a:p>
          <a:p>
            <a:pPr marL="228600" indent="-228600">
              <a:buAutoNum type="arabicPeriod"/>
            </a:pPr>
            <a:endParaRPr lang="en-US" b="1" dirty="0">
              <a:latin typeface="Segoe UI" panose="020B0502040204020203" pitchFamily="34" charset="0"/>
              <a:cs typeface="Segoe UI" panose="020B0502040204020203" pitchFamily="34" charset="0"/>
            </a:endParaRPr>
          </a:p>
          <a:p>
            <a:pPr marL="0" indent="0">
              <a:buNone/>
            </a:pPr>
            <a:r>
              <a:rPr lang="en-US" b="1" dirty="0">
                <a:latin typeface="Segoe UI" panose="020B0502040204020203" pitchFamily="34" charset="0"/>
                <a:cs typeface="Segoe UI" panose="020B0502040204020203" pitchFamily="34" charset="0"/>
              </a:rPr>
              <a:t>Note: You will want to choose the animations carefully.  You do not want to make your audience dizzy from your presentation.</a:t>
            </a:r>
          </a:p>
        </p:txBody>
      </p:sp>
      <p:sp>
        <p:nvSpPr>
          <p:cNvPr id="4" name="Slide Number Placeholder 3"/>
          <p:cNvSpPr>
            <a:spLocks noGrp="1"/>
          </p:cNvSpPr>
          <p:nvPr>
            <p:ph type="sldNum" sz="quarter" idx="10"/>
          </p:nvPr>
        </p:nvSpPr>
        <p:spPr/>
        <p:txBody>
          <a:bodyPr/>
          <a:lstStyle/>
          <a:p>
            <a:fld id="{BC849E9A-41F7-4779-A581-48A7C374A227}" type="slidenum">
              <a:rPr lang="en-US" smtClean="0"/>
              <a:t>16</a:t>
            </a:fld>
            <a:endParaRPr lang="en-US" dirty="0"/>
          </a:p>
        </p:txBody>
      </p:sp>
    </p:spTree>
    <p:extLst>
      <p:ext uri="{BB962C8B-B14F-4D97-AF65-F5344CB8AC3E}">
        <p14:creationId xmlns:p14="http://schemas.microsoft.com/office/powerpoint/2010/main" val="644202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718B7-7F68-4CC9-8291-332587FA31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81D6BB-0446-49E8-8677-EADF274E95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5AEE24-534A-40F1-99E4-00B7D5FD9124}"/>
              </a:ext>
            </a:extLst>
          </p:cNvPr>
          <p:cNvSpPr>
            <a:spLocks noGrp="1"/>
          </p:cNvSpPr>
          <p:nvPr>
            <p:ph type="dt" sz="half" idx="10"/>
          </p:nvPr>
        </p:nvSpPr>
        <p:spPr/>
        <p:txBody>
          <a:bodyPr/>
          <a:lstStyle/>
          <a:p>
            <a:fld id="{DECF21A4-E71B-4D3A-AF45-E989C23A7BB1}" type="datetimeFigureOut">
              <a:rPr lang="en-US" smtClean="0"/>
              <a:t>10/2/2025</a:t>
            </a:fld>
            <a:endParaRPr lang="en-US" dirty="0"/>
          </a:p>
        </p:txBody>
      </p:sp>
      <p:sp>
        <p:nvSpPr>
          <p:cNvPr id="5" name="Footer Placeholder 4">
            <a:extLst>
              <a:ext uri="{FF2B5EF4-FFF2-40B4-BE49-F238E27FC236}">
                <a16:creationId xmlns:a16="http://schemas.microsoft.com/office/drawing/2014/main" id="{CD594011-48FF-493D-8286-F62D345525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880EFCD-7E72-4882-86DC-2F371D7D9516}"/>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152813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334F3-0709-471B-A734-C4B404F55B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795016-AF78-4708-9C5F-21110C197B0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EA2D1-B124-4454-AFDC-EA60A14BA121}"/>
              </a:ext>
            </a:extLst>
          </p:cNvPr>
          <p:cNvSpPr>
            <a:spLocks noGrp="1"/>
          </p:cNvSpPr>
          <p:nvPr>
            <p:ph type="dt" sz="half" idx="10"/>
          </p:nvPr>
        </p:nvSpPr>
        <p:spPr/>
        <p:txBody>
          <a:bodyPr/>
          <a:lstStyle/>
          <a:p>
            <a:fld id="{DECF21A4-E71B-4D3A-AF45-E989C23A7BB1}" type="datetimeFigureOut">
              <a:rPr lang="en-US" smtClean="0"/>
              <a:t>10/2/2025</a:t>
            </a:fld>
            <a:endParaRPr lang="en-US" dirty="0"/>
          </a:p>
        </p:txBody>
      </p:sp>
      <p:sp>
        <p:nvSpPr>
          <p:cNvPr id="5" name="Footer Placeholder 4">
            <a:extLst>
              <a:ext uri="{FF2B5EF4-FFF2-40B4-BE49-F238E27FC236}">
                <a16:creationId xmlns:a16="http://schemas.microsoft.com/office/drawing/2014/main" id="{B4F58000-F9D7-4A53-A6C5-E5E8154226B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0D22AAD-0D08-4F47-8D5A-EFE29017E8D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21304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6159-1280-4EE9-96D3-A56BD58266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A27A78-1874-488A-B215-7D763D3381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84BB3D1-3138-4B69-BF5D-4B1A213451CA}"/>
              </a:ext>
            </a:extLst>
          </p:cNvPr>
          <p:cNvSpPr>
            <a:spLocks noGrp="1"/>
          </p:cNvSpPr>
          <p:nvPr>
            <p:ph type="dt" sz="half" idx="10"/>
          </p:nvPr>
        </p:nvSpPr>
        <p:spPr/>
        <p:txBody>
          <a:bodyPr/>
          <a:lstStyle/>
          <a:p>
            <a:fld id="{DECF21A4-E71B-4D3A-AF45-E989C23A7BB1}" type="datetimeFigureOut">
              <a:rPr lang="en-US" smtClean="0"/>
              <a:t>10/2/2025</a:t>
            </a:fld>
            <a:endParaRPr lang="en-US" dirty="0"/>
          </a:p>
        </p:txBody>
      </p:sp>
      <p:sp>
        <p:nvSpPr>
          <p:cNvPr id="5" name="Footer Placeholder 4">
            <a:extLst>
              <a:ext uri="{FF2B5EF4-FFF2-40B4-BE49-F238E27FC236}">
                <a16:creationId xmlns:a16="http://schemas.microsoft.com/office/drawing/2014/main" id="{0EFF90C5-31F4-4A22-AC00-3FB5ED291B2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51F787E-B946-4091-ABC6-F9DB06BBEE3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272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CAA11-CC97-44E5-AE4D-808FD741A0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3AB6CB-9460-4BCA-86C5-5F26357AB80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FAB0F6-401D-4BAF-A300-65AD684DF96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561BBA-B185-4B45-B152-3D320E15F550}"/>
              </a:ext>
            </a:extLst>
          </p:cNvPr>
          <p:cNvSpPr>
            <a:spLocks noGrp="1"/>
          </p:cNvSpPr>
          <p:nvPr>
            <p:ph type="dt" sz="half" idx="10"/>
          </p:nvPr>
        </p:nvSpPr>
        <p:spPr/>
        <p:txBody>
          <a:bodyPr/>
          <a:lstStyle/>
          <a:p>
            <a:fld id="{DECF21A4-E71B-4D3A-AF45-E989C23A7BB1}" type="datetimeFigureOut">
              <a:rPr lang="en-US" smtClean="0"/>
              <a:t>10/2/2025</a:t>
            </a:fld>
            <a:endParaRPr lang="en-US" dirty="0"/>
          </a:p>
        </p:txBody>
      </p:sp>
      <p:sp>
        <p:nvSpPr>
          <p:cNvPr id="6" name="Footer Placeholder 5">
            <a:extLst>
              <a:ext uri="{FF2B5EF4-FFF2-40B4-BE49-F238E27FC236}">
                <a16:creationId xmlns:a16="http://schemas.microsoft.com/office/drawing/2014/main" id="{D61CD760-96AC-4821-A56B-0B805F2FAD4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F750665-D5B5-4D0B-B2F0-CB6B027CDEC7}"/>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138061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A47C3-C498-415A-A057-E19BCEB5F2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F6677F-2712-4810-A3AA-56FA75386D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871B54A-6775-4978-8E19-32694C9B5E3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BA1303-B245-476D-BD02-A4E4A359F6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E8E898F-5B79-46F1-89C1-F827997CC48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417A4D-2EC9-4294-BFF4-EAE22EE1099A}"/>
              </a:ext>
            </a:extLst>
          </p:cNvPr>
          <p:cNvSpPr>
            <a:spLocks noGrp="1"/>
          </p:cNvSpPr>
          <p:nvPr>
            <p:ph type="dt" sz="half" idx="10"/>
          </p:nvPr>
        </p:nvSpPr>
        <p:spPr/>
        <p:txBody>
          <a:bodyPr/>
          <a:lstStyle/>
          <a:p>
            <a:fld id="{DECF21A4-E71B-4D3A-AF45-E989C23A7BB1}" type="datetimeFigureOut">
              <a:rPr lang="en-US" smtClean="0"/>
              <a:t>10/2/2025</a:t>
            </a:fld>
            <a:endParaRPr lang="en-US" dirty="0"/>
          </a:p>
        </p:txBody>
      </p:sp>
      <p:sp>
        <p:nvSpPr>
          <p:cNvPr id="8" name="Footer Placeholder 7">
            <a:extLst>
              <a:ext uri="{FF2B5EF4-FFF2-40B4-BE49-F238E27FC236}">
                <a16:creationId xmlns:a16="http://schemas.microsoft.com/office/drawing/2014/main" id="{6150E317-3602-42A1-BB7F-0184072E8D5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0CE2C97-E26C-4A8B-93A0-B01E2C7F4522}"/>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225869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F68FC-5755-447A-8D7F-9ADED3E994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B50287-81AA-46CA-8CB3-53A7F8313741}"/>
              </a:ext>
            </a:extLst>
          </p:cNvPr>
          <p:cNvSpPr>
            <a:spLocks noGrp="1"/>
          </p:cNvSpPr>
          <p:nvPr>
            <p:ph type="dt" sz="half" idx="10"/>
          </p:nvPr>
        </p:nvSpPr>
        <p:spPr/>
        <p:txBody>
          <a:bodyPr/>
          <a:lstStyle/>
          <a:p>
            <a:fld id="{DECF21A4-E71B-4D3A-AF45-E989C23A7BB1}" type="datetimeFigureOut">
              <a:rPr lang="en-US" smtClean="0"/>
              <a:t>10/2/2025</a:t>
            </a:fld>
            <a:endParaRPr lang="en-US" dirty="0"/>
          </a:p>
        </p:txBody>
      </p:sp>
      <p:sp>
        <p:nvSpPr>
          <p:cNvPr id="4" name="Footer Placeholder 3">
            <a:extLst>
              <a:ext uri="{FF2B5EF4-FFF2-40B4-BE49-F238E27FC236}">
                <a16:creationId xmlns:a16="http://schemas.microsoft.com/office/drawing/2014/main" id="{2F1BA4AA-02C9-459E-9362-3DA60E3B597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2A2C8F-DBB4-4235-A67E-FB4039D9AA2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068395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6ACAA5-F8E7-46E9-8BA7-A510948B62CC}"/>
              </a:ext>
            </a:extLst>
          </p:cNvPr>
          <p:cNvSpPr>
            <a:spLocks noGrp="1"/>
          </p:cNvSpPr>
          <p:nvPr>
            <p:ph type="dt" sz="half" idx="10"/>
          </p:nvPr>
        </p:nvSpPr>
        <p:spPr/>
        <p:txBody>
          <a:bodyPr/>
          <a:lstStyle/>
          <a:p>
            <a:fld id="{DECF21A4-E71B-4D3A-AF45-E989C23A7BB1}" type="datetimeFigureOut">
              <a:rPr lang="en-US" smtClean="0"/>
              <a:t>10/2/2025</a:t>
            </a:fld>
            <a:endParaRPr lang="en-US" dirty="0"/>
          </a:p>
        </p:txBody>
      </p:sp>
      <p:sp>
        <p:nvSpPr>
          <p:cNvPr id="3" name="Footer Placeholder 2">
            <a:extLst>
              <a:ext uri="{FF2B5EF4-FFF2-40B4-BE49-F238E27FC236}">
                <a16:creationId xmlns:a16="http://schemas.microsoft.com/office/drawing/2014/main" id="{D1F2DEE8-5654-4DCA-A8D0-D883E52B6FB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0B179A5-4329-4057-9DEB-5B6E3AD1183F}"/>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62179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DA80-336B-4DBB-91A1-6E3E4B3C20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40D456-F0A3-4789-A310-A23F01B2EC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8A8B05-7071-44D4-80F7-3E8191C9A4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5D8562E-E6F1-449B-909C-98426BA86B36}"/>
              </a:ext>
            </a:extLst>
          </p:cNvPr>
          <p:cNvSpPr>
            <a:spLocks noGrp="1"/>
          </p:cNvSpPr>
          <p:nvPr>
            <p:ph type="dt" sz="half" idx="10"/>
          </p:nvPr>
        </p:nvSpPr>
        <p:spPr/>
        <p:txBody>
          <a:bodyPr/>
          <a:lstStyle/>
          <a:p>
            <a:fld id="{DECF21A4-E71B-4D3A-AF45-E989C23A7BB1}" type="datetimeFigureOut">
              <a:rPr lang="en-US" smtClean="0"/>
              <a:t>10/2/2025</a:t>
            </a:fld>
            <a:endParaRPr lang="en-US" dirty="0"/>
          </a:p>
        </p:txBody>
      </p:sp>
      <p:sp>
        <p:nvSpPr>
          <p:cNvPr id="6" name="Footer Placeholder 5">
            <a:extLst>
              <a:ext uri="{FF2B5EF4-FFF2-40B4-BE49-F238E27FC236}">
                <a16:creationId xmlns:a16="http://schemas.microsoft.com/office/drawing/2014/main" id="{7EB47A9A-FB08-407B-A73A-0AC513F0FD5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BFF841F-796A-4FE6-B5E0-C8A4986793EE}"/>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84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D474D-6779-4C23-BD3C-82F5DC3E3E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21096C-E430-49C7-A801-21C0BD95DC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024828F-334F-4A50-850D-10684F245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33293F4-2B70-4BB5-A982-219E4133E251}"/>
              </a:ext>
            </a:extLst>
          </p:cNvPr>
          <p:cNvSpPr>
            <a:spLocks noGrp="1"/>
          </p:cNvSpPr>
          <p:nvPr>
            <p:ph type="dt" sz="half" idx="10"/>
          </p:nvPr>
        </p:nvSpPr>
        <p:spPr/>
        <p:txBody>
          <a:bodyPr/>
          <a:lstStyle/>
          <a:p>
            <a:fld id="{DECF21A4-E71B-4D3A-AF45-E989C23A7BB1}" type="datetimeFigureOut">
              <a:rPr lang="en-US" smtClean="0"/>
              <a:t>10/2/2025</a:t>
            </a:fld>
            <a:endParaRPr lang="en-US" dirty="0"/>
          </a:p>
        </p:txBody>
      </p:sp>
      <p:sp>
        <p:nvSpPr>
          <p:cNvPr id="6" name="Footer Placeholder 5">
            <a:extLst>
              <a:ext uri="{FF2B5EF4-FFF2-40B4-BE49-F238E27FC236}">
                <a16:creationId xmlns:a16="http://schemas.microsoft.com/office/drawing/2014/main" id="{C4F9A86F-B378-4759-B50E-2E0BFAE6246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0A95BDC-FC58-4638-AA59-A3DA9931FD3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790833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47D73-EDDA-49A6-BA12-1CA980DA9B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89B82E-4CA1-47A5-B133-FBD4D8A8398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8A267F-D142-4D04-9F03-6CB099E6FA32}"/>
              </a:ext>
            </a:extLst>
          </p:cNvPr>
          <p:cNvSpPr>
            <a:spLocks noGrp="1"/>
          </p:cNvSpPr>
          <p:nvPr>
            <p:ph type="dt" sz="half" idx="10"/>
          </p:nvPr>
        </p:nvSpPr>
        <p:spPr/>
        <p:txBody>
          <a:bodyPr/>
          <a:lstStyle/>
          <a:p>
            <a:fld id="{DECF21A4-E71B-4D3A-AF45-E989C23A7BB1}" type="datetimeFigureOut">
              <a:rPr lang="en-US" smtClean="0"/>
              <a:t>10/2/2025</a:t>
            </a:fld>
            <a:endParaRPr lang="en-US" dirty="0"/>
          </a:p>
        </p:txBody>
      </p:sp>
      <p:sp>
        <p:nvSpPr>
          <p:cNvPr id="5" name="Footer Placeholder 4">
            <a:extLst>
              <a:ext uri="{FF2B5EF4-FFF2-40B4-BE49-F238E27FC236}">
                <a16:creationId xmlns:a16="http://schemas.microsoft.com/office/drawing/2014/main" id="{705127CA-154D-4E90-B776-A2EE71F78D2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5F0BA5-F4EE-4282-B111-76B869BE267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067408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56E92A-52E0-4710-BDEF-0A15346854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A240E1-5EB0-47FD-AA37-BF945D136CC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A14243-F1E4-487A-ABEC-30516A01DF2B}"/>
              </a:ext>
            </a:extLst>
          </p:cNvPr>
          <p:cNvSpPr>
            <a:spLocks noGrp="1"/>
          </p:cNvSpPr>
          <p:nvPr>
            <p:ph type="dt" sz="half" idx="10"/>
          </p:nvPr>
        </p:nvSpPr>
        <p:spPr/>
        <p:txBody>
          <a:bodyPr/>
          <a:lstStyle/>
          <a:p>
            <a:fld id="{DECF21A4-E71B-4D3A-AF45-E989C23A7BB1}" type="datetimeFigureOut">
              <a:rPr lang="en-US" smtClean="0"/>
              <a:t>10/2/2025</a:t>
            </a:fld>
            <a:endParaRPr lang="en-US" dirty="0"/>
          </a:p>
        </p:txBody>
      </p:sp>
      <p:sp>
        <p:nvSpPr>
          <p:cNvPr id="5" name="Footer Placeholder 4">
            <a:extLst>
              <a:ext uri="{FF2B5EF4-FFF2-40B4-BE49-F238E27FC236}">
                <a16:creationId xmlns:a16="http://schemas.microsoft.com/office/drawing/2014/main" id="{AC358244-98FD-472D-AB8C-075F71C10BF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998D5A-820D-4519-967F-33320971CBAB}"/>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4024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80BC3B-525F-4038-9330-0729879F91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629186-93D7-46FA-AE02-36D9426043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BF1CEB-0530-4996-BAEF-2E6A04DAD6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F21A4-E71B-4D3A-AF45-E989C23A7BB1}" type="datetimeFigureOut">
              <a:rPr lang="en-US" smtClean="0"/>
              <a:t>10/2/2025</a:t>
            </a:fld>
            <a:endParaRPr lang="en-US" dirty="0"/>
          </a:p>
        </p:txBody>
      </p:sp>
      <p:sp>
        <p:nvSpPr>
          <p:cNvPr id="5" name="Footer Placeholder 4">
            <a:extLst>
              <a:ext uri="{FF2B5EF4-FFF2-40B4-BE49-F238E27FC236}">
                <a16:creationId xmlns:a16="http://schemas.microsoft.com/office/drawing/2014/main" id="{C8DCFF3D-7353-4B4D-9E75-FA835E06E7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382C8D6-8B0B-4982-9EE4-AA823C69C3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AF1B4E-90EC-4A51-B6E5-B702C054ECB0}" type="slidenum">
              <a:rPr lang="en-US" smtClean="0"/>
              <a:t>‹#›</a:t>
            </a:fld>
            <a:endParaRPr lang="en-US" dirty="0"/>
          </a:p>
        </p:txBody>
      </p:sp>
    </p:spTree>
    <p:extLst>
      <p:ext uri="{BB962C8B-B14F-4D97-AF65-F5344CB8AC3E}">
        <p14:creationId xmlns:p14="http://schemas.microsoft.com/office/powerpoint/2010/main" val="4010604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sv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0.sv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0.sv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0.sv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0.sv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2.svg"/><Relationship Id="rId4" Type="http://schemas.openxmlformats.org/officeDocument/2006/relationships/image" Target="../media/image8.svg"/><Relationship Id="rId9"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1AC0E-7195-4ACF-AA0A-5E2923A987F7}"/>
              </a:ext>
            </a:extLst>
          </p:cNvPr>
          <p:cNvSpPr>
            <a:spLocks noGrp="1"/>
          </p:cNvSpPr>
          <p:nvPr>
            <p:ph type="ctrTitle"/>
          </p:nvPr>
        </p:nvSpPr>
        <p:spPr>
          <a:xfrm>
            <a:off x="4412767" y="4381230"/>
            <a:ext cx="5609222" cy="1363215"/>
          </a:xfrm>
        </p:spPr>
        <p:txBody>
          <a:bodyPr anchor="t">
            <a:normAutofit/>
          </a:bodyPr>
          <a:lstStyle/>
          <a:p>
            <a:pPr algn="l"/>
            <a:r>
              <a:rPr lang="en-US" sz="4400" b="1" dirty="0">
                <a:latin typeface="Franklin Gothic Book" panose="020B0503020102020204" pitchFamily="34" charset="0"/>
                <a:cs typeface="Segoe UI" panose="020B0502040204020203" pitchFamily="34" charset="0"/>
              </a:rPr>
              <a:t>CSV FILES</a:t>
            </a:r>
          </a:p>
        </p:txBody>
      </p:sp>
      <p:sp>
        <p:nvSpPr>
          <p:cNvPr id="3" name="Subtitle 2">
            <a:extLst>
              <a:ext uri="{FF2B5EF4-FFF2-40B4-BE49-F238E27FC236}">
                <a16:creationId xmlns:a16="http://schemas.microsoft.com/office/drawing/2014/main" id="{814253EE-4FA2-4843-BE27-C7D5B08FFB81}"/>
              </a:ext>
            </a:extLst>
          </p:cNvPr>
          <p:cNvSpPr>
            <a:spLocks noGrp="1"/>
          </p:cNvSpPr>
          <p:nvPr>
            <p:ph type="subTitle" idx="1"/>
          </p:nvPr>
        </p:nvSpPr>
        <p:spPr>
          <a:xfrm>
            <a:off x="4578881" y="4996731"/>
            <a:ext cx="5609219" cy="1285765"/>
          </a:xfrm>
        </p:spPr>
        <p:txBody>
          <a:bodyPr anchor="b">
            <a:normAutofit/>
          </a:bodyPr>
          <a:lstStyle/>
          <a:p>
            <a:pPr algn="l"/>
            <a:r>
              <a:rPr lang="en-US" sz="2000" dirty="0">
                <a:latin typeface="Franklin Gothic Book" panose="020B0503020102020204" pitchFamily="34" charset="0"/>
              </a:rPr>
              <a:t>By</a:t>
            </a:r>
          </a:p>
          <a:p>
            <a:pPr algn="l"/>
            <a:r>
              <a:rPr lang="en-US" sz="2000" dirty="0">
                <a:latin typeface="Franklin Gothic Book" panose="020B0503020102020204" pitchFamily="34" charset="0"/>
              </a:rPr>
              <a:t>AZKA KARIM</a:t>
            </a:r>
          </a:p>
        </p:txBody>
      </p:sp>
      <p:sp>
        <p:nvSpPr>
          <p:cNvPr id="29" name="Freeform: Shape 28">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Freeform: Shape 30">
            <a:extLst>
              <a:ext uri="{FF2B5EF4-FFF2-40B4-BE49-F238E27FC236}">
                <a16:creationId xmlns:a16="http://schemas.microsoft.com/office/drawing/2014/main" id="{EBA87361-6D30-46E4-834B-719CF5905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8332"/>
            <a:ext cx="3564638" cy="4569668"/>
          </a:xfrm>
          <a:custGeom>
            <a:avLst/>
            <a:gdLst>
              <a:gd name="connsiteX0" fmla="*/ 640080 w 3564638"/>
              <a:gd name="connsiteY0" fmla="*/ 0 h 4569668"/>
              <a:gd name="connsiteX1" fmla="*/ 3564638 w 3564638"/>
              <a:gd name="connsiteY1" fmla="*/ 2924558 h 4569668"/>
              <a:gd name="connsiteX2" fmla="*/ 3065170 w 3564638"/>
              <a:gd name="connsiteY2" fmla="*/ 4559707 h 4569668"/>
              <a:gd name="connsiteX3" fmla="*/ 3057720 w 3564638"/>
              <a:gd name="connsiteY3" fmla="*/ 4569668 h 4569668"/>
              <a:gd name="connsiteX4" fmla="*/ 0 w 3564638"/>
              <a:gd name="connsiteY4" fmla="*/ 4569668 h 4569668"/>
              <a:gd name="connsiteX5" fmla="*/ 0 w 3564638"/>
              <a:gd name="connsiteY5" fmla="*/ 72448 h 4569668"/>
              <a:gd name="connsiteX6" fmla="*/ 50679 w 3564638"/>
              <a:gd name="connsiteY6" fmla="*/ 59417 h 4569668"/>
              <a:gd name="connsiteX7" fmla="*/ 640080 w 3564638"/>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Freeform: Shape 32">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D89DB1C0-FEEC-4CB6-88B2-F9C5562E0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574" y="0"/>
            <a:ext cx="3913632" cy="2285234"/>
          </a:xfrm>
          <a:custGeom>
            <a:avLst/>
            <a:gdLst>
              <a:gd name="connsiteX0" fmla="*/ 29691 w 3913632"/>
              <a:gd name="connsiteY0" fmla="*/ 0 h 2285234"/>
              <a:gd name="connsiteX1" fmla="*/ 3883942 w 3913632"/>
              <a:gd name="connsiteY1" fmla="*/ 0 h 2285234"/>
              <a:gd name="connsiteX2" fmla="*/ 3903529 w 3913632"/>
              <a:gd name="connsiteY2" fmla="*/ 128345 h 2285234"/>
              <a:gd name="connsiteX3" fmla="*/ 3913632 w 3913632"/>
              <a:gd name="connsiteY3" fmla="*/ 328418 h 2285234"/>
              <a:gd name="connsiteX4" fmla="*/ 1956816 w 3913632"/>
              <a:gd name="connsiteY4" fmla="*/ 2285234 h 2285234"/>
              <a:gd name="connsiteX5" fmla="*/ 0 w 3913632"/>
              <a:gd name="connsiteY5" fmla="*/ 328418 h 2285234"/>
              <a:gd name="connsiteX6" fmla="*/ 10103 w 3913632"/>
              <a:gd name="connsiteY6" fmla="*/ 128345 h 2285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Graphic 8" descr="Open Book">
            <a:extLst>
              <a:ext uri="{FF2B5EF4-FFF2-40B4-BE49-F238E27FC236}">
                <a16:creationId xmlns:a16="http://schemas.microsoft.com/office/drawing/2014/main" id="{93E427C7-0218-4592-82DA-2431E4BF875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85250" y="164573"/>
            <a:ext cx="1636279" cy="1636279"/>
          </a:xfrm>
          <a:prstGeom prst="rect">
            <a:avLst/>
          </a:prstGeom>
        </p:spPr>
      </p:pic>
      <p:sp>
        <p:nvSpPr>
          <p:cNvPr id="37" name="Oval 36">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3117" y="615908"/>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08163D1C-ED91-4D5F-A33B-CF1256B27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67709" y="780500"/>
            <a:ext cx="2852928" cy="285292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Graphic 4" descr="Chat">
            <a:extLst>
              <a:ext uri="{FF2B5EF4-FFF2-40B4-BE49-F238E27FC236}">
                <a16:creationId xmlns:a16="http://schemas.microsoft.com/office/drawing/2014/main" id="{EB71843F-0A0B-4317-B205-4B0A0B97C0F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80302" y="1293093"/>
            <a:ext cx="1827742" cy="1827742"/>
          </a:xfrm>
          <a:prstGeom prst="rect">
            <a:avLst/>
          </a:prstGeom>
        </p:spPr>
      </p:pic>
      <p:pic>
        <p:nvPicPr>
          <p:cNvPr id="7" name="Graphic 6" descr="Blackboard">
            <a:extLst>
              <a:ext uri="{FF2B5EF4-FFF2-40B4-BE49-F238E27FC236}">
                <a16:creationId xmlns:a16="http://schemas.microsoft.com/office/drawing/2014/main" id="{2696A1A4-8E43-47F6-A6DC-A9ADAB053D8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0924" y="3621724"/>
            <a:ext cx="2594886" cy="2594886"/>
          </a:xfrm>
          <a:prstGeom prst="rect">
            <a:avLst/>
          </a:prstGeom>
        </p:spPr>
      </p:pic>
      <p:sp>
        <p:nvSpPr>
          <p:cNvPr id="41" name="Freeform: Shape 40">
            <a:extLst>
              <a:ext uri="{FF2B5EF4-FFF2-40B4-BE49-F238E27FC236}">
                <a16:creationId xmlns:a16="http://schemas.microsoft.com/office/drawing/2014/main" id="{31103AB2-C090-458F-B752-294F23AFA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1"/>
            <a:ext cx="3439432" cy="3785157"/>
          </a:xfrm>
          <a:custGeom>
            <a:avLst/>
            <a:gdLst>
              <a:gd name="connsiteX0" fmla="*/ 198262 w 3439432"/>
              <a:gd name="connsiteY0" fmla="*/ 0 h 3785157"/>
              <a:gd name="connsiteX1" fmla="*/ 3439432 w 3439432"/>
              <a:gd name="connsiteY1" fmla="*/ 0 h 3785157"/>
              <a:gd name="connsiteX2" fmla="*/ 3439432 w 3439432"/>
              <a:gd name="connsiteY2" fmla="*/ 3697836 h 3785157"/>
              <a:gd name="connsiteX3" fmla="*/ 3318024 w 3439432"/>
              <a:gd name="connsiteY3" fmla="*/ 3729054 h 3785157"/>
              <a:gd name="connsiteX4" fmla="*/ 2761488 w 3439432"/>
              <a:gd name="connsiteY4" fmla="*/ 3785157 h 3785157"/>
              <a:gd name="connsiteX5" fmla="*/ 0 w 3439432"/>
              <a:gd name="connsiteY5" fmla="*/ 1023669 h 3785157"/>
              <a:gd name="connsiteX6" fmla="*/ 124151 w 3439432"/>
              <a:gd name="connsiteY6" fmla="*/ 202487 h 3785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785157">
                <a:moveTo>
                  <a:pt x="198262" y="0"/>
                </a:moveTo>
                <a:lnTo>
                  <a:pt x="3439432" y="0"/>
                </a:lnTo>
                <a:lnTo>
                  <a:pt x="3439432" y="3697836"/>
                </a:lnTo>
                <a:lnTo>
                  <a:pt x="3318024" y="3729054"/>
                </a:lnTo>
                <a:cubicBezTo>
                  <a:pt x="3138258" y="3765839"/>
                  <a:pt x="2952129" y="3785157"/>
                  <a:pt x="2761488" y="3785157"/>
                </a:cubicBezTo>
                <a:cubicBezTo>
                  <a:pt x="1236360" y="3785157"/>
                  <a:pt x="0" y="2548797"/>
                  <a:pt x="0" y="1023669"/>
                </a:cubicBezTo>
                <a:cubicBezTo>
                  <a:pt x="0" y="737708"/>
                  <a:pt x="43466" y="461898"/>
                  <a:pt x="124151" y="20248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83D471F3-782A-4BA1-9CAB-FF5CDF0A7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8761" y="-4332"/>
            <a:ext cx="3273238" cy="3618965"/>
          </a:xfrm>
          <a:custGeom>
            <a:avLst/>
            <a:gdLst>
              <a:gd name="connsiteX0" fmla="*/ 210437 w 3273238"/>
              <a:gd name="connsiteY0" fmla="*/ 0 h 3618965"/>
              <a:gd name="connsiteX1" fmla="*/ 3273238 w 3273238"/>
              <a:gd name="connsiteY1" fmla="*/ 0 h 3618965"/>
              <a:gd name="connsiteX2" fmla="*/ 3273238 w 3273238"/>
              <a:gd name="connsiteY2" fmla="*/ 3526409 h 3618965"/>
              <a:gd name="connsiteX3" fmla="*/ 3118338 w 3273238"/>
              <a:gd name="connsiteY3" fmla="*/ 3566238 h 3618965"/>
              <a:gd name="connsiteX4" fmla="*/ 2595295 w 3273238"/>
              <a:gd name="connsiteY4" fmla="*/ 3618965 h 3618965"/>
              <a:gd name="connsiteX5" fmla="*/ 0 w 3273238"/>
              <a:gd name="connsiteY5" fmla="*/ 1023670 h 3618965"/>
              <a:gd name="connsiteX6" fmla="*/ 203951 w 3273238"/>
              <a:gd name="connsiteY6" fmla="*/ 13464 h 361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3238" h="3618965">
                <a:moveTo>
                  <a:pt x="210437" y="0"/>
                </a:moveTo>
                <a:lnTo>
                  <a:pt x="3273238" y="0"/>
                </a:lnTo>
                <a:lnTo>
                  <a:pt x="3273238" y="3526409"/>
                </a:lnTo>
                <a:lnTo>
                  <a:pt x="3118338" y="3566238"/>
                </a:lnTo>
                <a:cubicBezTo>
                  <a:pt x="2949390" y="3600810"/>
                  <a:pt x="2774463" y="3618965"/>
                  <a:pt x="2595295" y="3618965"/>
                </a:cubicBezTo>
                <a:cubicBezTo>
                  <a:pt x="1161953" y="3618965"/>
                  <a:pt x="0" y="2457012"/>
                  <a:pt x="0" y="1023670"/>
                </a:cubicBezTo>
                <a:cubicBezTo>
                  <a:pt x="0" y="665335"/>
                  <a:pt x="72622" y="323961"/>
                  <a:pt x="203951" y="1346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Graphic 10" descr="Books on Shelf">
            <a:extLst>
              <a:ext uri="{FF2B5EF4-FFF2-40B4-BE49-F238E27FC236}">
                <a16:creationId xmlns:a16="http://schemas.microsoft.com/office/drawing/2014/main" id="{18A239E6-97C0-4A74-8E7A-C9FD39A8C92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725024" y="327889"/>
            <a:ext cx="2260711" cy="2260711"/>
          </a:xfrm>
          <a:prstGeom prst="rect">
            <a:avLst/>
          </a:prstGeom>
        </p:spPr>
      </p:pic>
    </p:spTree>
    <p:extLst>
      <p:ext uri="{BB962C8B-B14F-4D97-AF65-F5344CB8AC3E}">
        <p14:creationId xmlns:p14="http://schemas.microsoft.com/office/powerpoint/2010/main" val="32239897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187F2-BFAC-4AEE-8C1E-89E26181DE31}"/>
              </a:ext>
            </a:extLst>
          </p:cNvPr>
          <p:cNvSpPr>
            <a:spLocks noGrp="1"/>
          </p:cNvSpPr>
          <p:nvPr>
            <p:ph type="ctrTitle"/>
          </p:nvPr>
        </p:nvSpPr>
        <p:spPr>
          <a:xfrm>
            <a:off x="-408495" y="1707299"/>
            <a:ext cx="9144000" cy="2387600"/>
          </a:xfrm>
        </p:spPr>
        <p:txBody>
          <a:bodyPr>
            <a:normAutofit/>
          </a:bodyPr>
          <a:lstStyle/>
          <a:p>
            <a:r>
              <a:rPr lang="en-US" b="1" u="sng" dirty="0"/>
              <a:t>WHAT ARE CSV FILE</a:t>
            </a:r>
            <a:endParaRPr lang="en-PK" b="1" u="sng" dirty="0"/>
          </a:p>
        </p:txBody>
      </p:sp>
      <p:pic>
        <p:nvPicPr>
          <p:cNvPr id="3" name="Picture 2">
            <a:extLst>
              <a:ext uri="{FF2B5EF4-FFF2-40B4-BE49-F238E27FC236}">
                <a16:creationId xmlns:a16="http://schemas.microsoft.com/office/drawing/2014/main" id="{B12724EE-CCCB-491E-93DD-A83A64C94A30}"/>
              </a:ext>
            </a:extLst>
          </p:cNvPr>
          <p:cNvPicPr>
            <a:picLocks noChangeAspect="1"/>
          </p:cNvPicPr>
          <p:nvPr/>
        </p:nvPicPr>
        <p:blipFill>
          <a:blip r:embed="rId2"/>
          <a:stretch>
            <a:fillRect/>
          </a:stretch>
        </p:blipFill>
        <p:spPr>
          <a:xfrm>
            <a:off x="7141539" y="1461349"/>
            <a:ext cx="2905125" cy="3162300"/>
          </a:xfrm>
          <a:prstGeom prst="rect">
            <a:avLst/>
          </a:prstGeom>
        </p:spPr>
      </p:pic>
    </p:spTree>
    <p:extLst>
      <p:ext uri="{BB962C8B-B14F-4D97-AF65-F5344CB8AC3E}">
        <p14:creationId xmlns:p14="http://schemas.microsoft.com/office/powerpoint/2010/main" val="3088519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9B4E-C292-45AA-8116-562703040382}"/>
              </a:ext>
            </a:extLst>
          </p:cNvPr>
          <p:cNvSpPr>
            <a:spLocks noGrp="1"/>
          </p:cNvSpPr>
          <p:nvPr>
            <p:ph type="title"/>
          </p:nvPr>
        </p:nvSpPr>
        <p:spPr>
          <a:xfrm>
            <a:off x="2002690" y="379680"/>
            <a:ext cx="5406902" cy="1469965"/>
          </a:xfrm>
        </p:spPr>
        <p:txBody>
          <a:bodyPr anchor="ctr">
            <a:normAutofit/>
          </a:bodyPr>
          <a:lstStyle/>
          <a:p>
            <a:r>
              <a:rPr lang="en-US" b="1" dirty="0"/>
              <a:t>Introduction</a:t>
            </a:r>
          </a:p>
        </p:txBody>
      </p:sp>
      <p:pic>
        <p:nvPicPr>
          <p:cNvPr id="5" name="Graphic 4" descr="Open Book">
            <a:extLst>
              <a:ext uri="{FF2B5EF4-FFF2-40B4-BE49-F238E27FC236}">
                <a16:creationId xmlns:a16="http://schemas.microsoft.com/office/drawing/2014/main" id="{DEFE964D-9F1C-4F69-ADD3-0E1AB324E1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919" y="566022"/>
            <a:ext cx="1097280" cy="1097280"/>
          </a:xfrm>
          <a:prstGeom prst="rect">
            <a:avLst/>
          </a:prstGeom>
        </p:spPr>
      </p:pic>
      <p:pic>
        <p:nvPicPr>
          <p:cNvPr id="9" name="Graphic 8">
            <a:extLst>
              <a:ext uri="{FF2B5EF4-FFF2-40B4-BE49-F238E27FC236}">
                <a16:creationId xmlns:a16="http://schemas.microsoft.com/office/drawing/2014/main" id="{35127EDA-5861-47AB-8729-620CFC7DAC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
        <p:nvSpPr>
          <p:cNvPr id="4" name="Rectangle 2">
            <a:extLst>
              <a:ext uri="{FF2B5EF4-FFF2-40B4-BE49-F238E27FC236}">
                <a16:creationId xmlns:a16="http://schemas.microsoft.com/office/drawing/2014/main" id="{613C6E97-7BD6-41E6-B228-06E268F9ED77}"/>
              </a:ext>
            </a:extLst>
          </p:cNvPr>
          <p:cNvSpPr>
            <a:spLocks noGrp="1" noChangeArrowheads="1"/>
          </p:cNvSpPr>
          <p:nvPr>
            <p:ph idx="1"/>
          </p:nvPr>
        </p:nvSpPr>
        <p:spPr bwMode="auto">
          <a:xfrm>
            <a:off x="699024" y="1849645"/>
            <a:ext cx="556037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PK" altLang="en-PK" sz="1800" b="0" i="0" u="none" strike="noStrike" cap="none" normalizeH="0" baseline="0" dirty="0">
                <a:ln>
                  <a:noFill/>
                </a:ln>
                <a:solidFill>
                  <a:schemeClr val="tx1"/>
                </a:solidFill>
                <a:effectLst/>
                <a:latin typeface="Arial" panose="020B0604020202020204" pitchFamily="34" charset="0"/>
              </a:rPr>
              <a:t>CSV = </a:t>
            </a:r>
            <a:r>
              <a:rPr kumimoji="0" lang="en-PK" altLang="en-PK" sz="1800" b="0" i="1" u="none" strike="noStrike" cap="none" normalizeH="0" baseline="0" dirty="0">
                <a:ln>
                  <a:noFill/>
                </a:ln>
                <a:solidFill>
                  <a:schemeClr val="tx1"/>
                </a:solidFill>
                <a:effectLst/>
                <a:latin typeface="Arial" panose="020B0604020202020204" pitchFamily="34" charset="0"/>
              </a:rPr>
              <a:t>Comma-Separated Values</a:t>
            </a:r>
            <a:endParaRPr kumimoji="0" lang="en-PK" altLang="en-PK"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PK" altLang="en-PK" sz="1800" b="0" i="0" u="none" strike="noStrike" cap="none" normalizeH="0" baseline="0" dirty="0">
                <a:ln>
                  <a:noFill/>
                </a:ln>
                <a:solidFill>
                  <a:schemeClr val="tx1"/>
                </a:solidFill>
                <a:effectLst/>
                <a:latin typeface="Arial" panose="020B0604020202020204" pitchFamily="34" charset="0"/>
              </a:rPr>
              <a:t>Stores tabular data in plain text</a:t>
            </a:r>
          </a:p>
          <a:p>
            <a:pPr marL="0" indent="0" eaLnBrk="0" fontAlgn="base" hangingPunct="0">
              <a:lnSpc>
                <a:spcPct val="100000"/>
              </a:lnSpc>
              <a:spcBef>
                <a:spcPct val="0"/>
              </a:spcBef>
              <a:spcAft>
                <a:spcPct val="0"/>
              </a:spcAft>
              <a:buNone/>
            </a:pPr>
            <a:r>
              <a:rPr kumimoji="0" lang="en-PK" altLang="en-PK" sz="1800" b="0" i="0" u="none" strike="noStrike" cap="none" normalizeH="0" baseline="0" dirty="0">
                <a:ln>
                  <a:noFill/>
                </a:ln>
                <a:solidFill>
                  <a:schemeClr val="tx1"/>
                </a:solidFill>
                <a:effectLst/>
                <a:latin typeface="Arial" panose="020B0604020202020204" pitchFamily="34" charset="0"/>
              </a:rPr>
              <a:t>Widely used for:</a:t>
            </a:r>
          </a:p>
          <a:p>
            <a:pPr eaLnBrk="0" fontAlgn="base" hangingPunct="0">
              <a:lnSpc>
                <a:spcPct val="100000"/>
              </a:lnSpc>
              <a:spcBef>
                <a:spcPct val="0"/>
              </a:spcBef>
              <a:spcAft>
                <a:spcPct val="0"/>
              </a:spcAft>
            </a:pPr>
            <a:r>
              <a:rPr kumimoji="0" lang="en-PK" altLang="en-PK" sz="1800" b="0" i="0" u="none" strike="noStrike" cap="none" normalizeH="0" baseline="0" dirty="0">
                <a:ln>
                  <a:noFill/>
                </a:ln>
                <a:solidFill>
                  <a:schemeClr val="tx1"/>
                </a:solidFill>
                <a:effectLst/>
                <a:latin typeface="Arial" panose="020B0604020202020204" pitchFamily="34" charset="0"/>
              </a:rPr>
              <a:t>Data exchange (Excel, Databases, Python, ML)</a:t>
            </a:r>
          </a:p>
          <a:p>
            <a:pPr eaLnBrk="0" fontAlgn="base" hangingPunct="0">
              <a:lnSpc>
                <a:spcPct val="100000"/>
              </a:lnSpc>
              <a:spcBef>
                <a:spcPct val="0"/>
              </a:spcBef>
              <a:spcAft>
                <a:spcPct val="0"/>
              </a:spcAft>
            </a:pPr>
            <a:r>
              <a:rPr kumimoji="0" lang="en-PK" altLang="en-PK" sz="1800" b="0" i="0" u="none" strike="noStrike" cap="none" normalizeH="0" baseline="0" dirty="0">
                <a:ln>
                  <a:noFill/>
                </a:ln>
                <a:solidFill>
                  <a:schemeClr val="tx1"/>
                </a:solidFill>
                <a:effectLst/>
                <a:latin typeface="Arial" panose="020B0604020202020204" pitchFamily="34" charset="0"/>
              </a:rPr>
              <a:t>Lightweight and easy to use</a:t>
            </a:r>
          </a:p>
          <a:p>
            <a:pPr eaLnBrk="0" fontAlgn="base" hangingPunct="0">
              <a:lnSpc>
                <a:spcPct val="100000"/>
              </a:lnSpc>
              <a:spcBef>
                <a:spcPct val="0"/>
              </a:spcBef>
              <a:spcAft>
                <a:spcPct val="0"/>
              </a:spcAf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FA401252-A425-4163-856A-0D35CAC5776C}"/>
              </a:ext>
            </a:extLst>
          </p:cNvPr>
          <p:cNvPicPr>
            <a:picLocks noChangeAspect="1"/>
          </p:cNvPicPr>
          <p:nvPr/>
        </p:nvPicPr>
        <p:blipFill>
          <a:blip r:embed="rId6"/>
          <a:stretch>
            <a:fillRect/>
          </a:stretch>
        </p:blipFill>
        <p:spPr>
          <a:xfrm>
            <a:off x="5550570" y="3603971"/>
            <a:ext cx="5095875" cy="2505075"/>
          </a:xfrm>
          <a:prstGeom prst="rect">
            <a:avLst/>
          </a:prstGeom>
        </p:spPr>
      </p:pic>
    </p:spTree>
    <p:extLst>
      <p:ext uri="{BB962C8B-B14F-4D97-AF65-F5344CB8AC3E}">
        <p14:creationId xmlns:p14="http://schemas.microsoft.com/office/powerpoint/2010/main" val="381659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E5079-B185-4DE0-AF2C-AE4B7709FBC3}"/>
              </a:ext>
            </a:extLst>
          </p:cNvPr>
          <p:cNvSpPr>
            <a:spLocks noGrp="1"/>
          </p:cNvSpPr>
          <p:nvPr>
            <p:ph type="title"/>
          </p:nvPr>
        </p:nvSpPr>
        <p:spPr>
          <a:xfrm>
            <a:off x="2191226" y="554134"/>
            <a:ext cx="8762719" cy="1469965"/>
          </a:xfrm>
        </p:spPr>
        <p:txBody>
          <a:bodyPr anchor="ctr">
            <a:normAutofit/>
          </a:bodyPr>
          <a:lstStyle/>
          <a:p>
            <a:r>
              <a:rPr lang="en-US" b="1" dirty="0"/>
              <a:t>Difference between csv and </a:t>
            </a:r>
            <a:r>
              <a:rPr lang="en-US" b="1" dirty="0" err="1"/>
              <a:t>xls</a:t>
            </a:r>
            <a:r>
              <a:rPr lang="en-US" b="1" dirty="0"/>
              <a:t>/xlsx</a:t>
            </a:r>
          </a:p>
        </p:txBody>
      </p:sp>
      <p:pic>
        <p:nvPicPr>
          <p:cNvPr id="4" name="Content Placeholder 4" descr="Scales of Justice">
            <a:extLst>
              <a:ext uri="{FF2B5EF4-FFF2-40B4-BE49-F238E27FC236}">
                <a16:creationId xmlns:a16="http://schemas.microsoft.com/office/drawing/2014/main" id="{53025FED-9BCD-4BE9-B74C-707E5FD740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3615" y="740476"/>
            <a:ext cx="1097280" cy="1097280"/>
          </a:xfrm>
          <a:prstGeom prst="rect">
            <a:avLst/>
          </a:prstGeom>
        </p:spPr>
      </p:pic>
      <p:pic>
        <p:nvPicPr>
          <p:cNvPr id="8" name="Content Placeholder 4">
            <a:extLst>
              <a:ext uri="{FF2B5EF4-FFF2-40B4-BE49-F238E27FC236}">
                <a16:creationId xmlns:a16="http://schemas.microsoft.com/office/drawing/2014/main" id="{17062073-5027-4AA3-AB16-4D2C8C505AF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graphicFrame>
        <p:nvGraphicFramePr>
          <p:cNvPr id="3" name="Table 2">
            <a:extLst>
              <a:ext uri="{FF2B5EF4-FFF2-40B4-BE49-F238E27FC236}">
                <a16:creationId xmlns:a16="http://schemas.microsoft.com/office/drawing/2014/main" id="{66CC697F-A698-44EC-8E96-BF5B6A45E8F8}"/>
              </a:ext>
            </a:extLst>
          </p:cNvPr>
          <p:cNvGraphicFramePr>
            <a:graphicFrameLocks noGrp="1"/>
          </p:cNvGraphicFramePr>
          <p:nvPr>
            <p:extLst>
              <p:ext uri="{D42A27DB-BD31-4B8C-83A1-F6EECF244321}">
                <p14:modId xmlns:p14="http://schemas.microsoft.com/office/powerpoint/2010/main" val="718701738"/>
              </p:ext>
            </p:extLst>
          </p:nvPr>
        </p:nvGraphicFramePr>
        <p:xfrm>
          <a:off x="2010895" y="2551365"/>
          <a:ext cx="8484997" cy="2468880"/>
        </p:xfrm>
        <a:graphic>
          <a:graphicData uri="http://schemas.openxmlformats.org/drawingml/2006/table">
            <a:tbl>
              <a:tblPr>
                <a:tableStyleId>{BC89EF96-8CEA-46FF-86C4-4CE0E7609802}</a:tableStyleId>
              </a:tblPr>
              <a:tblGrid>
                <a:gridCol w="1474597">
                  <a:extLst>
                    <a:ext uri="{9D8B030D-6E8A-4147-A177-3AD203B41FA5}">
                      <a16:colId xmlns:a16="http://schemas.microsoft.com/office/drawing/2014/main" val="3406001561"/>
                    </a:ext>
                  </a:extLst>
                </a:gridCol>
                <a:gridCol w="3505200">
                  <a:extLst>
                    <a:ext uri="{9D8B030D-6E8A-4147-A177-3AD203B41FA5}">
                      <a16:colId xmlns:a16="http://schemas.microsoft.com/office/drawing/2014/main" val="4086311859"/>
                    </a:ext>
                  </a:extLst>
                </a:gridCol>
                <a:gridCol w="3505200">
                  <a:extLst>
                    <a:ext uri="{9D8B030D-6E8A-4147-A177-3AD203B41FA5}">
                      <a16:colId xmlns:a16="http://schemas.microsoft.com/office/drawing/2014/main" val="3316388973"/>
                    </a:ext>
                  </a:extLst>
                </a:gridCol>
              </a:tblGrid>
              <a:tr h="0">
                <a:tc>
                  <a:txBody>
                    <a:bodyPr/>
                    <a:lstStyle/>
                    <a:p>
                      <a:r>
                        <a:rPr lang="en-US" dirty="0"/>
                        <a:t>Feature</a:t>
                      </a:r>
                    </a:p>
                  </a:txBody>
                  <a:tcPr anchor="ctr"/>
                </a:tc>
                <a:tc>
                  <a:txBody>
                    <a:bodyPr/>
                    <a:lstStyle/>
                    <a:p>
                      <a:r>
                        <a:rPr lang="en-US"/>
                        <a:t>.xls (Excel)</a:t>
                      </a:r>
                    </a:p>
                  </a:txBody>
                  <a:tcPr anchor="ctr"/>
                </a:tc>
                <a:tc>
                  <a:txBody>
                    <a:bodyPr/>
                    <a:lstStyle/>
                    <a:p>
                      <a:r>
                        <a:rPr lang="en-US"/>
                        <a:t>.csv</a:t>
                      </a:r>
                    </a:p>
                  </a:txBody>
                  <a:tcPr anchor="ctr"/>
                </a:tc>
                <a:extLst>
                  <a:ext uri="{0D108BD9-81ED-4DB2-BD59-A6C34878D82A}">
                    <a16:rowId xmlns:a16="http://schemas.microsoft.com/office/drawing/2014/main" val="3873048388"/>
                  </a:ext>
                </a:extLst>
              </a:tr>
              <a:tr h="0">
                <a:tc>
                  <a:txBody>
                    <a:bodyPr/>
                    <a:lstStyle/>
                    <a:p>
                      <a:r>
                        <a:rPr lang="en-US"/>
                        <a:t>File Type</a:t>
                      </a:r>
                    </a:p>
                  </a:txBody>
                  <a:tcPr anchor="ctr"/>
                </a:tc>
                <a:tc>
                  <a:txBody>
                    <a:bodyPr/>
                    <a:lstStyle/>
                    <a:p>
                      <a:r>
                        <a:rPr lang="en-US"/>
                        <a:t>Binary (Excel)</a:t>
                      </a:r>
                    </a:p>
                  </a:txBody>
                  <a:tcPr anchor="ctr"/>
                </a:tc>
                <a:tc>
                  <a:txBody>
                    <a:bodyPr/>
                    <a:lstStyle/>
                    <a:p>
                      <a:r>
                        <a:rPr lang="en-US"/>
                        <a:t>Plain text</a:t>
                      </a:r>
                    </a:p>
                  </a:txBody>
                  <a:tcPr anchor="ctr"/>
                </a:tc>
                <a:extLst>
                  <a:ext uri="{0D108BD9-81ED-4DB2-BD59-A6C34878D82A}">
                    <a16:rowId xmlns:a16="http://schemas.microsoft.com/office/drawing/2014/main" val="1513684005"/>
                  </a:ext>
                </a:extLst>
              </a:tr>
              <a:tr h="0">
                <a:tc>
                  <a:txBody>
                    <a:bodyPr/>
                    <a:lstStyle/>
                    <a:p>
                      <a:r>
                        <a:rPr lang="en-US"/>
                        <a:t>Data</a:t>
                      </a:r>
                    </a:p>
                  </a:txBody>
                  <a:tcPr anchor="ctr"/>
                </a:tc>
                <a:tc>
                  <a:txBody>
                    <a:bodyPr/>
                    <a:lstStyle/>
                    <a:p>
                      <a:r>
                        <a:rPr lang="en-US"/>
                        <a:t>Supports formulas, charts, formatting</a:t>
                      </a:r>
                    </a:p>
                  </a:txBody>
                  <a:tcPr anchor="ctr"/>
                </a:tc>
                <a:tc>
                  <a:txBody>
                    <a:bodyPr/>
                    <a:lstStyle/>
                    <a:p>
                      <a:r>
                        <a:rPr lang="en-US"/>
                        <a:t>Only raw data</a:t>
                      </a:r>
                    </a:p>
                  </a:txBody>
                  <a:tcPr anchor="ctr"/>
                </a:tc>
                <a:extLst>
                  <a:ext uri="{0D108BD9-81ED-4DB2-BD59-A6C34878D82A}">
                    <a16:rowId xmlns:a16="http://schemas.microsoft.com/office/drawing/2014/main" val="912493736"/>
                  </a:ext>
                </a:extLst>
              </a:tr>
              <a:tr h="0">
                <a:tc>
                  <a:txBody>
                    <a:bodyPr/>
                    <a:lstStyle/>
                    <a:p>
                      <a:r>
                        <a:rPr lang="en-US"/>
                        <a:t>Size</a:t>
                      </a:r>
                    </a:p>
                  </a:txBody>
                  <a:tcPr anchor="ctr"/>
                </a:tc>
                <a:tc>
                  <a:txBody>
                    <a:bodyPr/>
                    <a:lstStyle/>
                    <a:p>
                      <a:r>
                        <a:rPr lang="en-US"/>
                        <a:t>Larger</a:t>
                      </a:r>
                    </a:p>
                  </a:txBody>
                  <a:tcPr anchor="ctr"/>
                </a:tc>
                <a:tc>
                  <a:txBody>
                    <a:bodyPr/>
                    <a:lstStyle/>
                    <a:p>
                      <a:r>
                        <a:rPr lang="en-US"/>
                        <a:t>Smaller</a:t>
                      </a:r>
                    </a:p>
                  </a:txBody>
                  <a:tcPr anchor="ctr"/>
                </a:tc>
                <a:extLst>
                  <a:ext uri="{0D108BD9-81ED-4DB2-BD59-A6C34878D82A}">
                    <a16:rowId xmlns:a16="http://schemas.microsoft.com/office/drawing/2014/main" val="3499040848"/>
                  </a:ext>
                </a:extLst>
              </a:tr>
              <a:tr h="0">
                <a:tc>
                  <a:txBody>
                    <a:bodyPr/>
                    <a:lstStyle/>
                    <a:p>
                      <a:r>
                        <a:rPr lang="en-US"/>
                        <a:t>Compatibility</a:t>
                      </a:r>
                    </a:p>
                  </a:txBody>
                  <a:tcPr anchor="ctr"/>
                </a:tc>
                <a:tc>
                  <a:txBody>
                    <a:bodyPr/>
                    <a:lstStyle/>
                    <a:p>
                      <a:r>
                        <a:rPr lang="en-US"/>
                        <a:t>Only Excel &amp; tools</a:t>
                      </a:r>
                    </a:p>
                  </a:txBody>
                  <a:tcPr anchor="ctr"/>
                </a:tc>
                <a:tc>
                  <a:txBody>
                    <a:bodyPr/>
                    <a:lstStyle/>
                    <a:p>
                      <a:r>
                        <a:rPr lang="en-US"/>
                        <a:t>Universal</a:t>
                      </a:r>
                    </a:p>
                  </a:txBody>
                  <a:tcPr anchor="ctr"/>
                </a:tc>
                <a:extLst>
                  <a:ext uri="{0D108BD9-81ED-4DB2-BD59-A6C34878D82A}">
                    <a16:rowId xmlns:a16="http://schemas.microsoft.com/office/drawing/2014/main" val="1096108454"/>
                  </a:ext>
                </a:extLst>
              </a:tr>
              <a:tr h="0">
                <a:tc>
                  <a:txBody>
                    <a:bodyPr/>
                    <a:lstStyle/>
                    <a:p>
                      <a:r>
                        <a:rPr lang="en-US"/>
                        <a:t>Speed</a:t>
                      </a:r>
                    </a:p>
                  </a:txBody>
                  <a:tcPr anchor="ctr"/>
                </a:tc>
                <a:tc>
                  <a:txBody>
                    <a:bodyPr/>
                    <a:lstStyle/>
                    <a:p>
                      <a:r>
                        <a:rPr lang="en-US"/>
                        <a:t>Slower</a:t>
                      </a:r>
                    </a:p>
                  </a:txBody>
                  <a:tcPr anchor="ctr"/>
                </a:tc>
                <a:tc>
                  <a:txBody>
                    <a:bodyPr/>
                    <a:lstStyle/>
                    <a:p>
                      <a:r>
                        <a:rPr lang="en-US" dirty="0"/>
                        <a:t>Faster</a:t>
                      </a:r>
                    </a:p>
                  </a:txBody>
                  <a:tcPr anchor="ctr"/>
                </a:tc>
                <a:extLst>
                  <a:ext uri="{0D108BD9-81ED-4DB2-BD59-A6C34878D82A}">
                    <a16:rowId xmlns:a16="http://schemas.microsoft.com/office/drawing/2014/main" val="3423061809"/>
                  </a:ext>
                </a:extLst>
              </a:tr>
            </a:tbl>
          </a:graphicData>
        </a:graphic>
      </p:graphicFrame>
    </p:spTree>
    <p:extLst>
      <p:ext uri="{BB962C8B-B14F-4D97-AF65-F5344CB8AC3E}">
        <p14:creationId xmlns:p14="http://schemas.microsoft.com/office/powerpoint/2010/main" val="882630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9B4E-C292-45AA-8116-562703040382}"/>
              </a:ext>
            </a:extLst>
          </p:cNvPr>
          <p:cNvSpPr>
            <a:spLocks noGrp="1"/>
          </p:cNvSpPr>
          <p:nvPr>
            <p:ph type="title"/>
          </p:nvPr>
        </p:nvSpPr>
        <p:spPr>
          <a:xfrm>
            <a:off x="2002690" y="379680"/>
            <a:ext cx="5406902" cy="1469965"/>
          </a:xfrm>
        </p:spPr>
        <p:txBody>
          <a:bodyPr anchor="ctr">
            <a:normAutofit/>
          </a:bodyPr>
          <a:lstStyle/>
          <a:p>
            <a:r>
              <a:rPr lang="en-US" b="1" dirty="0"/>
              <a:t>Point to noted</a:t>
            </a:r>
          </a:p>
        </p:txBody>
      </p:sp>
      <p:pic>
        <p:nvPicPr>
          <p:cNvPr id="5" name="Graphic 4" descr="Open Book">
            <a:extLst>
              <a:ext uri="{FF2B5EF4-FFF2-40B4-BE49-F238E27FC236}">
                <a16:creationId xmlns:a16="http://schemas.microsoft.com/office/drawing/2014/main" id="{DEFE964D-9F1C-4F69-ADD3-0E1AB324E1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919" y="566022"/>
            <a:ext cx="1097280" cy="1097280"/>
          </a:xfrm>
          <a:prstGeom prst="rect">
            <a:avLst/>
          </a:prstGeom>
        </p:spPr>
      </p:pic>
      <p:pic>
        <p:nvPicPr>
          <p:cNvPr id="9" name="Graphic 8">
            <a:extLst>
              <a:ext uri="{FF2B5EF4-FFF2-40B4-BE49-F238E27FC236}">
                <a16:creationId xmlns:a16="http://schemas.microsoft.com/office/drawing/2014/main" id="{35127EDA-5861-47AB-8729-620CFC7DAC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
        <p:nvSpPr>
          <p:cNvPr id="6" name="Rectangle 2">
            <a:extLst>
              <a:ext uri="{FF2B5EF4-FFF2-40B4-BE49-F238E27FC236}">
                <a16:creationId xmlns:a16="http://schemas.microsoft.com/office/drawing/2014/main" id="{7E5B08D6-ED95-4929-8DA0-BD1D89B59571}"/>
              </a:ext>
            </a:extLst>
          </p:cNvPr>
          <p:cNvSpPr>
            <a:spLocks noGrp="1" noChangeArrowheads="1"/>
          </p:cNvSpPr>
          <p:nvPr>
            <p:ph idx="1"/>
          </p:nvPr>
        </p:nvSpPr>
        <p:spPr bwMode="auto">
          <a:xfrm>
            <a:off x="3507689" y="2321424"/>
            <a:ext cx="53975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chemeClr val="tx1"/>
                </a:solidFill>
                <a:effectLst/>
                <a:latin typeface="Arial" panose="020B0604020202020204" pitchFamily="34" charset="0"/>
              </a:rPr>
              <a:t>Yes, a CSV file can be easily opened in Excel either by double-clicking it, selecting </a:t>
            </a:r>
            <a:r>
              <a:rPr kumimoji="0" lang="en-PK" altLang="en-PK" sz="1800" b="1" i="0" u="none" strike="noStrike" cap="none" normalizeH="0" baseline="0" dirty="0">
                <a:ln>
                  <a:noFill/>
                </a:ln>
                <a:solidFill>
                  <a:schemeClr val="tx1"/>
                </a:solidFill>
                <a:effectLst/>
                <a:latin typeface="Arial" panose="020B0604020202020204" pitchFamily="34" charset="0"/>
              </a:rPr>
              <a:t>File → Open</a:t>
            </a:r>
            <a:r>
              <a:rPr kumimoji="0" lang="en-PK" altLang="en-PK" sz="1800" b="0" i="0" u="none" strike="noStrike" cap="none" normalizeH="0" baseline="0" dirty="0">
                <a:ln>
                  <a:noFill/>
                </a:ln>
                <a:solidFill>
                  <a:schemeClr val="tx1"/>
                </a:solidFill>
                <a:effectLst/>
                <a:latin typeface="Arial" panose="020B0604020202020204" pitchFamily="34" charset="0"/>
              </a:rPr>
              <a:t> </a:t>
            </a:r>
            <a:r>
              <a:rPr kumimoji="0" lang="en-PK" altLang="en-PK" sz="1800" b="1" i="0" u="none" strike="noStrike" cap="none" normalizeH="0" baseline="0" dirty="0">
                <a:ln>
                  <a:noFill/>
                </a:ln>
                <a:solidFill>
                  <a:schemeClr val="tx1"/>
                </a:solidFill>
                <a:effectLst/>
                <a:latin typeface="Arial" panose="020B0604020202020204" pitchFamily="34" charset="0"/>
              </a:rPr>
              <a:t>in Excel</a:t>
            </a:r>
            <a:r>
              <a:rPr kumimoji="0" lang="en-US" altLang="en-PK" sz="1800" b="0" i="0" u="none" strike="noStrike" cap="none" normalizeH="0" baseline="0" dirty="0">
                <a:ln>
                  <a:noFill/>
                </a:ln>
                <a:solidFill>
                  <a:schemeClr val="tx1"/>
                </a:solidFill>
                <a:effectLst/>
                <a:latin typeface="Arial" panose="020B0604020202020204" pitchFamily="34" charset="0"/>
              </a:rPr>
              <a:t>. </a:t>
            </a:r>
            <a:r>
              <a:rPr kumimoji="0" lang="en-PK" altLang="en-PK" sz="1800" b="0" i="0" u="none" strike="noStrike" cap="none" normalizeH="0" baseline="0" dirty="0">
                <a:ln>
                  <a:noFill/>
                </a:ln>
                <a:solidFill>
                  <a:schemeClr val="tx1"/>
                </a:solidFill>
                <a:effectLst/>
                <a:latin typeface="Arial" panose="020B0604020202020204" pitchFamily="34" charset="0"/>
              </a:rPr>
              <a:t>However, unlike Excel files, CSV files only store raw data without any formatting, formulas, charts, or multiple sheets. When opened in Excel, the data is displayed in tabular form, but if you save it again as a CSV, any formatting or formulas you applied will be lost. This makes CSV ideal for lightweight data exchange, while Excel formats like </a:t>
            </a:r>
            <a:r>
              <a:rPr kumimoji="0" lang="en-PK" altLang="en-PK" sz="1800" b="0" i="0" u="none" strike="noStrike" cap="none" normalizeH="0" baseline="0" dirty="0">
                <a:ln>
                  <a:noFill/>
                </a:ln>
                <a:solidFill>
                  <a:schemeClr val="tx1"/>
                </a:solidFill>
                <a:effectLst/>
                <a:latin typeface="Arial Unicode MS"/>
              </a:rPr>
              <a:t>.xlsx</a:t>
            </a:r>
            <a:r>
              <a:rPr kumimoji="0" lang="en-PK" altLang="en-PK" sz="1800" b="0" i="0" u="none" strike="noStrike" cap="none" normalizeH="0" baseline="0" dirty="0">
                <a:ln>
                  <a:noFill/>
                </a:ln>
                <a:solidFill>
                  <a:schemeClr val="tx1"/>
                </a:solidFill>
                <a:effectLst/>
              </a:rPr>
              <a:t> are better for advanced features and presentation.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45281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Graphic 3" descr="Blackboard">
            <a:extLst>
              <a:ext uri="{FF2B5EF4-FFF2-40B4-BE49-F238E27FC236}">
                <a16:creationId xmlns:a16="http://schemas.microsoft.com/office/drawing/2014/main" id="{A4298283-DDB8-4365-95A1-90935E16BE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3985" y="610694"/>
            <a:ext cx="1097280" cy="1097280"/>
          </a:xfrm>
          <a:prstGeom prst="rect">
            <a:avLst/>
          </a:prstGeom>
        </p:spPr>
      </p:pic>
      <p:sp>
        <p:nvSpPr>
          <p:cNvPr id="2" name="Title 1">
            <a:extLst>
              <a:ext uri="{FF2B5EF4-FFF2-40B4-BE49-F238E27FC236}">
                <a16:creationId xmlns:a16="http://schemas.microsoft.com/office/drawing/2014/main" id="{DD648CF1-C72A-4313-8FC7-BF6DD4642AFE}"/>
              </a:ext>
            </a:extLst>
          </p:cNvPr>
          <p:cNvSpPr>
            <a:spLocks noGrp="1"/>
          </p:cNvSpPr>
          <p:nvPr>
            <p:ph type="title"/>
          </p:nvPr>
        </p:nvSpPr>
        <p:spPr>
          <a:xfrm>
            <a:off x="2071265" y="424352"/>
            <a:ext cx="5406902" cy="1469965"/>
          </a:xfrm>
        </p:spPr>
        <p:txBody>
          <a:bodyPr anchor="ctr">
            <a:normAutofit/>
          </a:bodyPr>
          <a:lstStyle/>
          <a:p>
            <a:r>
              <a:rPr lang="en-US" b="1" dirty="0">
                <a:latin typeface="Franklin Gothic Book" panose="020B0503020102020204" pitchFamily="34" charset="0"/>
                <a:cs typeface="Segoe UI" panose="020B0502040204020203" pitchFamily="34" charset="0"/>
              </a:rPr>
              <a:t>Create CSV Files</a:t>
            </a:r>
          </a:p>
        </p:txBody>
      </p:sp>
      <p:pic>
        <p:nvPicPr>
          <p:cNvPr id="8" name="Graphic 7">
            <a:extLst>
              <a:ext uri="{FF2B5EF4-FFF2-40B4-BE49-F238E27FC236}">
                <a16:creationId xmlns:a16="http://schemas.microsoft.com/office/drawing/2014/main" id="{B6C7BDF7-D7AC-4209-A6A9-11B953F882E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
        <p:nvSpPr>
          <p:cNvPr id="16" name="TextBox 15">
            <a:extLst>
              <a:ext uri="{FF2B5EF4-FFF2-40B4-BE49-F238E27FC236}">
                <a16:creationId xmlns:a16="http://schemas.microsoft.com/office/drawing/2014/main" id="{A4800CB2-B2BD-4196-97ED-7803521A21CA}"/>
              </a:ext>
            </a:extLst>
          </p:cNvPr>
          <p:cNvSpPr txBox="1"/>
          <p:nvPr/>
        </p:nvSpPr>
        <p:spPr>
          <a:xfrm>
            <a:off x="2422689" y="2356700"/>
            <a:ext cx="7004116" cy="1938992"/>
          </a:xfrm>
          <a:prstGeom prst="rect">
            <a:avLst/>
          </a:prstGeom>
          <a:noFill/>
        </p:spPr>
        <p:txBody>
          <a:bodyPr wrap="square" rtlCol="0">
            <a:spAutoFit/>
          </a:bodyPr>
          <a:lstStyle/>
          <a:p>
            <a:r>
              <a:rPr lang="en-US" sz="4000" dirty="0"/>
              <a:t>There are 2 methods</a:t>
            </a:r>
          </a:p>
          <a:p>
            <a:pPr marL="285750" indent="-285750">
              <a:buFont typeface="Arial" panose="020B0604020202020204" pitchFamily="34" charset="0"/>
              <a:buChar char="•"/>
            </a:pPr>
            <a:r>
              <a:rPr lang="en-US" sz="4000" dirty="0"/>
              <a:t>Create CSV Manually</a:t>
            </a:r>
          </a:p>
          <a:p>
            <a:pPr marL="285750" indent="-285750">
              <a:buFont typeface="Arial" panose="020B0604020202020204" pitchFamily="34" charset="0"/>
              <a:buChar char="•"/>
            </a:pPr>
            <a:r>
              <a:rPr lang="en-US" sz="4000" dirty="0"/>
              <a:t>Create CSV with Python</a:t>
            </a:r>
            <a:endParaRPr lang="en-PK" sz="4000" dirty="0"/>
          </a:p>
        </p:txBody>
      </p:sp>
    </p:spTree>
    <p:extLst>
      <p:ext uri="{BB962C8B-B14F-4D97-AF65-F5344CB8AC3E}">
        <p14:creationId xmlns:p14="http://schemas.microsoft.com/office/powerpoint/2010/main" val="789449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9B4E-C292-45AA-8116-562703040382}"/>
              </a:ext>
            </a:extLst>
          </p:cNvPr>
          <p:cNvSpPr>
            <a:spLocks noGrp="1"/>
          </p:cNvSpPr>
          <p:nvPr>
            <p:ph type="title"/>
          </p:nvPr>
        </p:nvSpPr>
        <p:spPr>
          <a:xfrm>
            <a:off x="2002689" y="379680"/>
            <a:ext cx="7970870" cy="1469965"/>
          </a:xfrm>
        </p:spPr>
        <p:txBody>
          <a:bodyPr anchor="ctr">
            <a:normAutofit/>
          </a:bodyPr>
          <a:lstStyle/>
          <a:p>
            <a:r>
              <a:rPr lang="en-US" dirty="0"/>
              <a:t>Method 1: Create CSV Manually</a:t>
            </a:r>
            <a:endParaRPr lang="en-US" b="1" dirty="0"/>
          </a:p>
        </p:txBody>
      </p:sp>
      <p:pic>
        <p:nvPicPr>
          <p:cNvPr id="5" name="Graphic 4" descr="Open Book">
            <a:extLst>
              <a:ext uri="{FF2B5EF4-FFF2-40B4-BE49-F238E27FC236}">
                <a16:creationId xmlns:a16="http://schemas.microsoft.com/office/drawing/2014/main" id="{DEFE964D-9F1C-4F69-ADD3-0E1AB324E1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919" y="566022"/>
            <a:ext cx="1097280" cy="1097280"/>
          </a:xfrm>
          <a:prstGeom prst="rect">
            <a:avLst/>
          </a:prstGeom>
        </p:spPr>
      </p:pic>
      <p:pic>
        <p:nvPicPr>
          <p:cNvPr id="9" name="Graphic 8">
            <a:extLst>
              <a:ext uri="{FF2B5EF4-FFF2-40B4-BE49-F238E27FC236}">
                <a16:creationId xmlns:a16="http://schemas.microsoft.com/office/drawing/2014/main" id="{35127EDA-5861-47AB-8729-620CFC7DAC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pic>
        <p:nvPicPr>
          <p:cNvPr id="7" name="Picture 6">
            <a:extLst>
              <a:ext uri="{FF2B5EF4-FFF2-40B4-BE49-F238E27FC236}">
                <a16:creationId xmlns:a16="http://schemas.microsoft.com/office/drawing/2014/main" id="{FA401252-A425-4163-856A-0D35CAC5776C}"/>
              </a:ext>
            </a:extLst>
          </p:cNvPr>
          <p:cNvPicPr>
            <a:picLocks noChangeAspect="1"/>
          </p:cNvPicPr>
          <p:nvPr/>
        </p:nvPicPr>
        <p:blipFill>
          <a:blip r:embed="rId6"/>
          <a:stretch>
            <a:fillRect/>
          </a:stretch>
        </p:blipFill>
        <p:spPr>
          <a:xfrm>
            <a:off x="5638867" y="2510611"/>
            <a:ext cx="5095875" cy="2505075"/>
          </a:xfrm>
          <a:prstGeom prst="rect">
            <a:avLst/>
          </a:prstGeom>
        </p:spPr>
      </p:pic>
      <p:sp>
        <p:nvSpPr>
          <p:cNvPr id="6" name="Rectangle 2">
            <a:extLst>
              <a:ext uri="{FF2B5EF4-FFF2-40B4-BE49-F238E27FC236}">
                <a16:creationId xmlns:a16="http://schemas.microsoft.com/office/drawing/2014/main" id="{A1F42142-5E07-4E92-9B55-31B362D64EE0}"/>
              </a:ext>
            </a:extLst>
          </p:cNvPr>
          <p:cNvSpPr>
            <a:spLocks noGrp="1" noChangeArrowheads="1"/>
          </p:cNvSpPr>
          <p:nvPr>
            <p:ph idx="1"/>
          </p:nvPr>
        </p:nvSpPr>
        <p:spPr bwMode="auto">
          <a:xfrm>
            <a:off x="534987" y="3393262"/>
            <a:ext cx="5561013"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Open </a:t>
            </a:r>
            <a:r>
              <a:rPr kumimoji="0" lang="en-PK" altLang="en-PK" sz="1800" b="1" i="0" u="none" strike="noStrike" cap="none" normalizeH="0" baseline="0" dirty="0">
                <a:ln>
                  <a:noFill/>
                </a:ln>
                <a:solidFill>
                  <a:schemeClr val="tx1"/>
                </a:solidFill>
                <a:effectLst/>
                <a:latin typeface="Arial" panose="020B0604020202020204" pitchFamily="34" charset="0"/>
              </a:rPr>
              <a:t>Notepad</a:t>
            </a:r>
            <a:r>
              <a:rPr kumimoji="0" lang="en-PK" altLang="en-PK" sz="1800" b="0" i="0" u="none" strike="noStrike" cap="none" normalizeH="0" baseline="0" dirty="0">
                <a:ln>
                  <a:noFill/>
                </a:ln>
                <a:solidFill>
                  <a:schemeClr val="tx1"/>
                </a:solidFill>
                <a:effectLst/>
                <a:latin typeface="Arial" panose="020B0604020202020204" pitchFamily="34" charset="0"/>
              </a:rPr>
              <a:t> (or any text editor).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1800" b="0" i="0" u="none" strike="noStrike" cap="none" normalizeH="0" baseline="0" dirty="0">
                <a:ln>
                  <a:noFill/>
                </a:ln>
                <a:solidFill>
                  <a:schemeClr val="tx1"/>
                </a:solidFill>
                <a:effectLst/>
                <a:latin typeface="Arial" panose="020B0604020202020204" pitchFamily="34" charset="0"/>
              </a:rPr>
              <a:t>Copy this example data:</a:t>
            </a:r>
          </a:p>
        </p:txBody>
      </p:sp>
    </p:spTree>
    <p:extLst>
      <p:ext uri="{BB962C8B-B14F-4D97-AF65-F5344CB8AC3E}">
        <p14:creationId xmlns:p14="http://schemas.microsoft.com/office/powerpoint/2010/main" val="1446469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9B4E-C292-45AA-8116-562703040382}"/>
              </a:ext>
            </a:extLst>
          </p:cNvPr>
          <p:cNvSpPr>
            <a:spLocks noGrp="1"/>
          </p:cNvSpPr>
          <p:nvPr>
            <p:ph type="title"/>
          </p:nvPr>
        </p:nvSpPr>
        <p:spPr>
          <a:xfrm>
            <a:off x="2002689" y="379680"/>
            <a:ext cx="7970870" cy="1469965"/>
          </a:xfrm>
        </p:spPr>
        <p:txBody>
          <a:bodyPr anchor="ctr">
            <a:normAutofit/>
          </a:bodyPr>
          <a:lstStyle/>
          <a:p>
            <a:r>
              <a:rPr lang="en-US" dirty="0"/>
              <a:t>Method 1: Create CSV Manually</a:t>
            </a:r>
            <a:endParaRPr lang="en-US" b="1" dirty="0"/>
          </a:p>
        </p:txBody>
      </p:sp>
      <p:pic>
        <p:nvPicPr>
          <p:cNvPr id="5" name="Graphic 4" descr="Open Book">
            <a:extLst>
              <a:ext uri="{FF2B5EF4-FFF2-40B4-BE49-F238E27FC236}">
                <a16:creationId xmlns:a16="http://schemas.microsoft.com/office/drawing/2014/main" id="{DEFE964D-9F1C-4F69-ADD3-0E1AB324E1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919" y="566022"/>
            <a:ext cx="1097280" cy="1097280"/>
          </a:xfrm>
          <a:prstGeom prst="rect">
            <a:avLst/>
          </a:prstGeom>
        </p:spPr>
      </p:pic>
      <p:pic>
        <p:nvPicPr>
          <p:cNvPr id="9" name="Graphic 8">
            <a:extLst>
              <a:ext uri="{FF2B5EF4-FFF2-40B4-BE49-F238E27FC236}">
                <a16:creationId xmlns:a16="http://schemas.microsoft.com/office/drawing/2014/main" id="{35127EDA-5861-47AB-8729-620CFC7DAC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pic>
        <p:nvPicPr>
          <p:cNvPr id="8" name="Picture 7">
            <a:extLst>
              <a:ext uri="{FF2B5EF4-FFF2-40B4-BE49-F238E27FC236}">
                <a16:creationId xmlns:a16="http://schemas.microsoft.com/office/drawing/2014/main" id="{6D13CA70-E55B-4B53-873D-2FDC13EDBEFB}"/>
              </a:ext>
            </a:extLst>
          </p:cNvPr>
          <p:cNvPicPr>
            <a:picLocks noChangeAspect="1"/>
          </p:cNvPicPr>
          <p:nvPr/>
        </p:nvPicPr>
        <p:blipFill>
          <a:blip r:embed="rId6"/>
          <a:stretch>
            <a:fillRect/>
          </a:stretch>
        </p:blipFill>
        <p:spPr>
          <a:xfrm>
            <a:off x="4981593" y="1393121"/>
            <a:ext cx="6691932" cy="4727995"/>
          </a:xfrm>
          <a:prstGeom prst="rect">
            <a:avLst/>
          </a:prstGeom>
        </p:spPr>
      </p:pic>
      <p:sp>
        <p:nvSpPr>
          <p:cNvPr id="10" name="TextBox 9">
            <a:extLst>
              <a:ext uri="{FF2B5EF4-FFF2-40B4-BE49-F238E27FC236}">
                <a16:creationId xmlns:a16="http://schemas.microsoft.com/office/drawing/2014/main" id="{C2B6771A-5BF7-41F5-860F-0A8DD92DE7A2}"/>
              </a:ext>
            </a:extLst>
          </p:cNvPr>
          <p:cNvSpPr txBox="1"/>
          <p:nvPr/>
        </p:nvSpPr>
        <p:spPr>
          <a:xfrm>
            <a:off x="809919" y="2026764"/>
            <a:ext cx="3487917" cy="2308324"/>
          </a:xfrm>
          <a:prstGeom prst="rect">
            <a:avLst/>
          </a:prstGeom>
          <a:noFill/>
        </p:spPr>
        <p:txBody>
          <a:bodyPr wrap="square" rtlCol="0">
            <a:spAutoFit/>
          </a:bodyPr>
          <a:lstStyle/>
          <a:p>
            <a:pPr marL="285750" indent="-285750">
              <a:buFont typeface="Arial" panose="020B0604020202020204" pitchFamily="34" charset="0"/>
              <a:buChar char="•"/>
            </a:pPr>
            <a:r>
              <a:rPr lang="en-US" dirty="0"/>
              <a:t>Save the file as </a:t>
            </a:r>
            <a:r>
              <a:rPr lang="en-US" b="1" dirty="0"/>
              <a:t>students.csv</a:t>
            </a:r>
          </a:p>
          <a:p>
            <a:pPr marL="285750" indent="-285750">
              <a:buFont typeface="Arial" panose="020B0604020202020204" pitchFamily="34" charset="0"/>
              <a:buChar char="•"/>
            </a:pPr>
            <a:r>
              <a:rPr lang="en-US" dirty="0"/>
              <a:t>File → Save As</a:t>
            </a:r>
          </a:p>
          <a:p>
            <a:pPr marL="285750" indent="-285750">
              <a:buFont typeface="Arial" panose="020B0604020202020204" pitchFamily="34" charset="0"/>
              <a:buChar char="•"/>
            </a:pPr>
            <a:r>
              <a:rPr lang="en-US" dirty="0"/>
              <a:t>File name:  Students.csv</a:t>
            </a:r>
          </a:p>
          <a:p>
            <a:pPr marL="285750" indent="-285750">
              <a:buFont typeface="Arial" panose="020B0604020202020204" pitchFamily="34" charset="0"/>
              <a:buChar char="•"/>
            </a:pPr>
            <a:r>
              <a:rPr lang="en-US" dirty="0"/>
              <a:t>Save as type: All Files</a:t>
            </a:r>
          </a:p>
          <a:p>
            <a:pPr marL="285750" indent="-285750">
              <a:buFont typeface="Arial" panose="020B0604020202020204" pitchFamily="34" charset="0"/>
              <a:buChar char="•"/>
            </a:pPr>
            <a:r>
              <a:rPr lang="en-US" dirty="0"/>
              <a:t>Encoding: UTF-8</a:t>
            </a:r>
          </a:p>
          <a:p>
            <a:endParaRPr lang="en-US" dirty="0"/>
          </a:p>
          <a:p>
            <a:r>
              <a:rPr lang="en-US" dirty="0"/>
              <a:t>✅ Done! You now have a CSV file</a:t>
            </a:r>
          </a:p>
          <a:p>
            <a:endParaRPr lang="en-PK" dirty="0"/>
          </a:p>
        </p:txBody>
      </p:sp>
      <p:pic>
        <p:nvPicPr>
          <p:cNvPr id="16" name="Picture 15">
            <a:extLst>
              <a:ext uri="{FF2B5EF4-FFF2-40B4-BE49-F238E27FC236}">
                <a16:creationId xmlns:a16="http://schemas.microsoft.com/office/drawing/2014/main" id="{EE930F31-9663-48FC-A889-1DDCE4FDA48F}"/>
              </a:ext>
            </a:extLst>
          </p:cNvPr>
          <p:cNvPicPr>
            <a:picLocks noChangeAspect="1"/>
          </p:cNvPicPr>
          <p:nvPr/>
        </p:nvPicPr>
        <p:blipFill>
          <a:blip r:embed="rId7"/>
          <a:stretch>
            <a:fillRect/>
          </a:stretch>
        </p:blipFill>
        <p:spPr>
          <a:xfrm>
            <a:off x="884433" y="6416425"/>
            <a:ext cx="10982325" cy="361950"/>
          </a:xfrm>
          <a:prstGeom prst="rect">
            <a:avLst/>
          </a:prstGeom>
        </p:spPr>
      </p:pic>
      <p:sp>
        <p:nvSpPr>
          <p:cNvPr id="17" name="TextBox 16">
            <a:extLst>
              <a:ext uri="{FF2B5EF4-FFF2-40B4-BE49-F238E27FC236}">
                <a16:creationId xmlns:a16="http://schemas.microsoft.com/office/drawing/2014/main" id="{A6CC9242-85C5-406E-9FA0-F4479632EFAE}"/>
              </a:ext>
            </a:extLst>
          </p:cNvPr>
          <p:cNvSpPr txBox="1"/>
          <p:nvPr/>
        </p:nvSpPr>
        <p:spPr>
          <a:xfrm>
            <a:off x="1219921" y="6034840"/>
            <a:ext cx="1442301" cy="369332"/>
          </a:xfrm>
          <a:prstGeom prst="rect">
            <a:avLst/>
          </a:prstGeom>
          <a:noFill/>
        </p:spPr>
        <p:txBody>
          <a:bodyPr wrap="square" rtlCol="0">
            <a:spAutoFit/>
          </a:bodyPr>
          <a:lstStyle/>
          <a:p>
            <a:r>
              <a:rPr lang="en-US" dirty="0"/>
              <a:t>File saved</a:t>
            </a:r>
            <a:endParaRPr lang="en-PK" dirty="0"/>
          </a:p>
        </p:txBody>
      </p:sp>
    </p:spTree>
    <p:extLst>
      <p:ext uri="{BB962C8B-B14F-4D97-AF65-F5344CB8AC3E}">
        <p14:creationId xmlns:p14="http://schemas.microsoft.com/office/powerpoint/2010/main" val="2199167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9B4E-C292-45AA-8116-562703040382}"/>
              </a:ext>
            </a:extLst>
          </p:cNvPr>
          <p:cNvSpPr>
            <a:spLocks noGrp="1"/>
          </p:cNvSpPr>
          <p:nvPr>
            <p:ph type="title"/>
          </p:nvPr>
        </p:nvSpPr>
        <p:spPr>
          <a:xfrm>
            <a:off x="2002689" y="379680"/>
            <a:ext cx="9168074" cy="1469965"/>
          </a:xfrm>
        </p:spPr>
        <p:txBody>
          <a:bodyPr anchor="ctr">
            <a:normAutofit/>
          </a:bodyPr>
          <a:lstStyle/>
          <a:p>
            <a:r>
              <a:rPr lang="en-US" dirty="0"/>
              <a:t>🔹 Method 2: Create CSV with Python</a:t>
            </a:r>
            <a:endParaRPr lang="en-US" b="1" dirty="0"/>
          </a:p>
        </p:txBody>
      </p:sp>
      <p:pic>
        <p:nvPicPr>
          <p:cNvPr id="5" name="Graphic 4" descr="Open Book">
            <a:extLst>
              <a:ext uri="{FF2B5EF4-FFF2-40B4-BE49-F238E27FC236}">
                <a16:creationId xmlns:a16="http://schemas.microsoft.com/office/drawing/2014/main" id="{DEFE964D-9F1C-4F69-ADD3-0E1AB324E1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919" y="566022"/>
            <a:ext cx="1097280" cy="1097280"/>
          </a:xfrm>
          <a:prstGeom prst="rect">
            <a:avLst/>
          </a:prstGeom>
        </p:spPr>
      </p:pic>
      <p:pic>
        <p:nvPicPr>
          <p:cNvPr id="9" name="Graphic 8">
            <a:extLst>
              <a:ext uri="{FF2B5EF4-FFF2-40B4-BE49-F238E27FC236}">
                <a16:creationId xmlns:a16="http://schemas.microsoft.com/office/drawing/2014/main" id="{35127EDA-5861-47AB-8729-620CFC7DAC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
        <p:nvSpPr>
          <p:cNvPr id="6" name="Rectangle 2">
            <a:extLst>
              <a:ext uri="{FF2B5EF4-FFF2-40B4-BE49-F238E27FC236}">
                <a16:creationId xmlns:a16="http://schemas.microsoft.com/office/drawing/2014/main" id="{A1F42142-5E07-4E92-9B55-31B362D64EE0}"/>
              </a:ext>
            </a:extLst>
          </p:cNvPr>
          <p:cNvSpPr>
            <a:spLocks noGrp="1" noChangeArrowheads="1"/>
          </p:cNvSpPr>
          <p:nvPr>
            <p:ph idx="1"/>
          </p:nvPr>
        </p:nvSpPr>
        <p:spPr bwMode="auto">
          <a:xfrm>
            <a:off x="5550570" y="1743157"/>
            <a:ext cx="566244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1800" dirty="0"/>
              <a:t>import csv</a:t>
            </a:r>
          </a:p>
          <a:p>
            <a:pPr marL="0" lvl="0" indent="0" eaLnBrk="0" fontAlgn="base" hangingPunct="0">
              <a:lnSpc>
                <a:spcPct val="100000"/>
              </a:lnSpc>
              <a:spcBef>
                <a:spcPct val="0"/>
              </a:spcBef>
              <a:spcAft>
                <a:spcPct val="0"/>
              </a:spcAft>
              <a:buNone/>
            </a:pPr>
            <a:endParaRPr lang="en-US" sz="1800" dirty="0"/>
          </a:p>
          <a:p>
            <a:pPr marL="0" lvl="0" indent="0" eaLnBrk="0" fontAlgn="base" hangingPunct="0">
              <a:lnSpc>
                <a:spcPct val="100000"/>
              </a:lnSpc>
              <a:spcBef>
                <a:spcPct val="0"/>
              </a:spcBef>
              <a:spcAft>
                <a:spcPct val="0"/>
              </a:spcAft>
              <a:buNone/>
            </a:pPr>
            <a:r>
              <a:rPr lang="en-US" sz="1800" dirty="0"/>
              <a:t># Data for the CSV</a:t>
            </a:r>
          </a:p>
          <a:p>
            <a:pPr marL="0" lvl="0" indent="0" eaLnBrk="0" fontAlgn="base" hangingPunct="0">
              <a:lnSpc>
                <a:spcPct val="100000"/>
              </a:lnSpc>
              <a:spcBef>
                <a:spcPct val="0"/>
              </a:spcBef>
              <a:spcAft>
                <a:spcPct val="0"/>
              </a:spcAft>
              <a:buNone/>
            </a:pPr>
            <a:r>
              <a:rPr lang="en-US" sz="1800" dirty="0"/>
              <a:t>data = [</a:t>
            </a:r>
          </a:p>
          <a:p>
            <a:pPr marL="0" lvl="0" indent="0" eaLnBrk="0" fontAlgn="base" hangingPunct="0">
              <a:lnSpc>
                <a:spcPct val="100000"/>
              </a:lnSpc>
              <a:spcBef>
                <a:spcPct val="0"/>
              </a:spcBef>
              <a:spcAft>
                <a:spcPct val="0"/>
              </a:spcAft>
              <a:buNone/>
            </a:pPr>
            <a:r>
              <a:rPr lang="en-US" sz="1800" dirty="0"/>
              <a:t>    ["Name", "Math", "Science", "English"],</a:t>
            </a:r>
          </a:p>
          <a:p>
            <a:pPr marL="0" lvl="0" indent="0" eaLnBrk="0" fontAlgn="base" hangingPunct="0">
              <a:lnSpc>
                <a:spcPct val="100000"/>
              </a:lnSpc>
              <a:spcBef>
                <a:spcPct val="0"/>
              </a:spcBef>
              <a:spcAft>
                <a:spcPct val="0"/>
              </a:spcAft>
              <a:buNone/>
            </a:pPr>
            <a:r>
              <a:rPr lang="en-US" sz="1800" dirty="0"/>
              <a:t>    [“Azka", 85, 90, 88],</a:t>
            </a:r>
          </a:p>
          <a:p>
            <a:pPr marL="0" lvl="0" indent="0" eaLnBrk="0" fontAlgn="base" hangingPunct="0">
              <a:lnSpc>
                <a:spcPct val="100000"/>
              </a:lnSpc>
              <a:spcBef>
                <a:spcPct val="0"/>
              </a:spcBef>
              <a:spcAft>
                <a:spcPct val="0"/>
              </a:spcAft>
              <a:buNone/>
            </a:pPr>
            <a:r>
              <a:rPr lang="en-US" sz="1800" dirty="0"/>
              <a:t>    [“Noor", 78, 82, 80],</a:t>
            </a:r>
          </a:p>
          <a:p>
            <a:pPr marL="0" lvl="0" indent="0" eaLnBrk="0" fontAlgn="base" hangingPunct="0">
              <a:lnSpc>
                <a:spcPct val="100000"/>
              </a:lnSpc>
              <a:spcBef>
                <a:spcPct val="0"/>
              </a:spcBef>
              <a:spcAft>
                <a:spcPct val="0"/>
              </a:spcAft>
              <a:buNone/>
            </a:pPr>
            <a:r>
              <a:rPr lang="en-US" sz="1800" dirty="0"/>
              <a:t>    [“Anza", 92, 95, 89],</a:t>
            </a:r>
          </a:p>
          <a:p>
            <a:pPr marL="0" lvl="0" indent="0" eaLnBrk="0" fontAlgn="base" hangingPunct="0">
              <a:lnSpc>
                <a:spcPct val="100000"/>
              </a:lnSpc>
              <a:spcBef>
                <a:spcPct val="0"/>
              </a:spcBef>
              <a:spcAft>
                <a:spcPct val="0"/>
              </a:spcAft>
              <a:buNone/>
            </a:pPr>
            <a:r>
              <a:rPr lang="en-US" sz="1800" dirty="0"/>
              <a:t>    [“Sonia", 70, 68, 72]</a:t>
            </a:r>
          </a:p>
          <a:p>
            <a:pPr marL="0" lvl="0" indent="0" eaLnBrk="0" fontAlgn="base" hangingPunct="0">
              <a:lnSpc>
                <a:spcPct val="100000"/>
              </a:lnSpc>
              <a:spcBef>
                <a:spcPct val="0"/>
              </a:spcBef>
              <a:spcAft>
                <a:spcPct val="0"/>
              </a:spcAft>
              <a:buNone/>
            </a:pPr>
            <a:r>
              <a:rPr lang="en-US" sz="1800" dirty="0"/>
              <a:t>]</a:t>
            </a:r>
          </a:p>
          <a:p>
            <a:pPr marL="0" lvl="0" indent="0" eaLnBrk="0" fontAlgn="base" hangingPunct="0">
              <a:lnSpc>
                <a:spcPct val="100000"/>
              </a:lnSpc>
              <a:spcBef>
                <a:spcPct val="0"/>
              </a:spcBef>
              <a:spcAft>
                <a:spcPct val="0"/>
              </a:spcAft>
              <a:buNone/>
            </a:pPr>
            <a:endParaRPr lang="en-US" sz="1800" dirty="0"/>
          </a:p>
          <a:p>
            <a:pPr marL="0" lvl="0" indent="0" eaLnBrk="0" fontAlgn="base" hangingPunct="0">
              <a:lnSpc>
                <a:spcPct val="100000"/>
              </a:lnSpc>
              <a:spcBef>
                <a:spcPct val="0"/>
              </a:spcBef>
              <a:spcAft>
                <a:spcPct val="0"/>
              </a:spcAft>
              <a:buNone/>
            </a:pPr>
            <a:r>
              <a:rPr lang="en-US" sz="1800" dirty="0"/>
              <a:t># Write data to students.csv</a:t>
            </a:r>
          </a:p>
          <a:p>
            <a:pPr marL="0" lvl="0" indent="0" eaLnBrk="0" fontAlgn="base" hangingPunct="0">
              <a:lnSpc>
                <a:spcPct val="100000"/>
              </a:lnSpc>
              <a:spcBef>
                <a:spcPct val="0"/>
              </a:spcBef>
              <a:spcAft>
                <a:spcPct val="0"/>
              </a:spcAft>
              <a:buNone/>
            </a:pPr>
            <a:r>
              <a:rPr lang="en-US" sz="1800" dirty="0"/>
              <a:t>with open(“students_Record.csv", "w", newline="") as file:</a:t>
            </a:r>
          </a:p>
          <a:p>
            <a:pPr marL="0" lvl="0" indent="0" eaLnBrk="0" fontAlgn="base" hangingPunct="0">
              <a:lnSpc>
                <a:spcPct val="100000"/>
              </a:lnSpc>
              <a:spcBef>
                <a:spcPct val="0"/>
              </a:spcBef>
              <a:spcAft>
                <a:spcPct val="0"/>
              </a:spcAft>
              <a:buNone/>
            </a:pPr>
            <a:r>
              <a:rPr lang="en-US" sz="1800" dirty="0"/>
              <a:t>    writer = </a:t>
            </a:r>
            <a:r>
              <a:rPr lang="en-US" sz="1800" dirty="0" err="1"/>
              <a:t>csv.writer</a:t>
            </a:r>
            <a:r>
              <a:rPr lang="en-US" sz="1800" dirty="0"/>
              <a:t>(file)</a:t>
            </a:r>
          </a:p>
          <a:p>
            <a:pPr marL="0" lvl="0" indent="0" eaLnBrk="0" fontAlgn="base" hangingPunct="0">
              <a:lnSpc>
                <a:spcPct val="100000"/>
              </a:lnSpc>
              <a:spcBef>
                <a:spcPct val="0"/>
              </a:spcBef>
              <a:spcAft>
                <a:spcPct val="0"/>
              </a:spcAft>
              <a:buNone/>
            </a:pPr>
            <a:r>
              <a:rPr lang="en-US" sz="1800" dirty="0"/>
              <a:t>    </a:t>
            </a:r>
            <a:r>
              <a:rPr lang="en-US" sz="1800" dirty="0" err="1"/>
              <a:t>writer.writerows</a:t>
            </a:r>
            <a:r>
              <a:rPr lang="en-US" sz="1800" dirty="0"/>
              <a:t>(data)</a:t>
            </a:r>
          </a:p>
          <a:p>
            <a:pPr marL="0" lvl="0" indent="0" eaLnBrk="0" fontAlgn="base" hangingPunct="0">
              <a:lnSpc>
                <a:spcPct val="100000"/>
              </a:lnSpc>
              <a:spcBef>
                <a:spcPct val="0"/>
              </a:spcBef>
              <a:spcAft>
                <a:spcPct val="0"/>
              </a:spcAft>
              <a:buNone/>
            </a:pPr>
            <a:endParaRPr lang="en-US" sz="1800" dirty="0"/>
          </a:p>
          <a:p>
            <a:pPr marL="0" lvl="0" indent="0" eaLnBrk="0" fontAlgn="base" hangingPunct="0">
              <a:lnSpc>
                <a:spcPct val="100000"/>
              </a:lnSpc>
              <a:spcBef>
                <a:spcPct val="0"/>
              </a:spcBef>
              <a:spcAft>
                <a:spcPct val="0"/>
              </a:spcAft>
              <a:buNone/>
            </a:pPr>
            <a:r>
              <a:rPr lang="en-US" sz="1800" dirty="0"/>
              <a:t>print("students_Record.csv file created successfully!")</a:t>
            </a:r>
          </a:p>
        </p:txBody>
      </p:sp>
      <p:sp>
        <p:nvSpPr>
          <p:cNvPr id="3" name="TextBox 2">
            <a:extLst>
              <a:ext uri="{FF2B5EF4-FFF2-40B4-BE49-F238E27FC236}">
                <a16:creationId xmlns:a16="http://schemas.microsoft.com/office/drawing/2014/main" id="{DD462FAA-9BA5-4F72-A9F4-28D233E1ECEE}"/>
              </a:ext>
            </a:extLst>
          </p:cNvPr>
          <p:cNvSpPr txBox="1"/>
          <p:nvPr/>
        </p:nvSpPr>
        <p:spPr>
          <a:xfrm>
            <a:off x="1358559" y="3789871"/>
            <a:ext cx="1395167" cy="707886"/>
          </a:xfrm>
          <a:prstGeom prst="rect">
            <a:avLst/>
          </a:prstGeom>
          <a:noFill/>
        </p:spPr>
        <p:txBody>
          <a:bodyPr wrap="square" rtlCol="0">
            <a:spAutoFit/>
          </a:bodyPr>
          <a:lstStyle/>
          <a:p>
            <a:r>
              <a:rPr lang="en-US" sz="4000" b="1" dirty="0"/>
              <a:t>Code</a:t>
            </a:r>
            <a:endParaRPr lang="en-PK" sz="4000" b="1" dirty="0"/>
          </a:p>
        </p:txBody>
      </p:sp>
      <p:sp>
        <p:nvSpPr>
          <p:cNvPr id="4" name="Arrow: Right 3">
            <a:extLst>
              <a:ext uri="{FF2B5EF4-FFF2-40B4-BE49-F238E27FC236}">
                <a16:creationId xmlns:a16="http://schemas.microsoft.com/office/drawing/2014/main" id="{3F9F6807-0A63-437F-B82F-E40525D8B693}"/>
              </a:ext>
            </a:extLst>
          </p:cNvPr>
          <p:cNvSpPr/>
          <p:nvPr/>
        </p:nvSpPr>
        <p:spPr>
          <a:xfrm>
            <a:off x="3487199" y="3716291"/>
            <a:ext cx="1206631" cy="96153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PK"/>
          </a:p>
        </p:txBody>
      </p:sp>
      <p:sp>
        <p:nvSpPr>
          <p:cNvPr id="8" name="TextBox 7">
            <a:extLst>
              <a:ext uri="{FF2B5EF4-FFF2-40B4-BE49-F238E27FC236}">
                <a16:creationId xmlns:a16="http://schemas.microsoft.com/office/drawing/2014/main" id="{AC952905-E3F1-431D-AAFA-6BD167A960A7}"/>
              </a:ext>
            </a:extLst>
          </p:cNvPr>
          <p:cNvSpPr txBox="1"/>
          <p:nvPr/>
        </p:nvSpPr>
        <p:spPr>
          <a:xfrm>
            <a:off x="357711" y="4841335"/>
            <a:ext cx="3289955" cy="1200329"/>
          </a:xfrm>
          <a:prstGeom prst="rect">
            <a:avLst/>
          </a:prstGeom>
          <a:noFill/>
        </p:spPr>
        <p:txBody>
          <a:bodyPr wrap="square" rtlCol="0">
            <a:spAutoFit/>
          </a:bodyPr>
          <a:lstStyle/>
          <a:p>
            <a:r>
              <a:rPr lang="en-US" dirty="0"/>
              <a:t>After running this, a file called </a:t>
            </a:r>
            <a:r>
              <a:rPr lang="en-US" b="1" dirty="0"/>
              <a:t>students_Record.csv</a:t>
            </a:r>
            <a:r>
              <a:rPr lang="en-US" dirty="0"/>
              <a:t> will be created in the same folder as your Python program.</a:t>
            </a:r>
            <a:endParaRPr lang="en-PK" dirty="0"/>
          </a:p>
        </p:txBody>
      </p:sp>
    </p:spTree>
    <p:extLst>
      <p:ext uri="{BB962C8B-B14F-4D97-AF65-F5344CB8AC3E}">
        <p14:creationId xmlns:p14="http://schemas.microsoft.com/office/powerpoint/2010/main" val="1123878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9B4E-C292-45AA-8116-562703040382}"/>
              </a:ext>
            </a:extLst>
          </p:cNvPr>
          <p:cNvSpPr>
            <a:spLocks noGrp="1"/>
          </p:cNvSpPr>
          <p:nvPr>
            <p:ph type="title"/>
          </p:nvPr>
        </p:nvSpPr>
        <p:spPr>
          <a:xfrm>
            <a:off x="2002689" y="379680"/>
            <a:ext cx="9168074" cy="1469965"/>
          </a:xfrm>
        </p:spPr>
        <p:txBody>
          <a:bodyPr anchor="ctr">
            <a:normAutofit/>
          </a:bodyPr>
          <a:lstStyle/>
          <a:p>
            <a:r>
              <a:rPr lang="en-US" dirty="0"/>
              <a:t>🔹 Example 1: Read &amp; Display Data	</a:t>
            </a:r>
            <a:endParaRPr lang="en-US" b="1" dirty="0"/>
          </a:p>
        </p:txBody>
      </p:sp>
      <p:pic>
        <p:nvPicPr>
          <p:cNvPr id="5" name="Graphic 4" descr="Open Book">
            <a:extLst>
              <a:ext uri="{FF2B5EF4-FFF2-40B4-BE49-F238E27FC236}">
                <a16:creationId xmlns:a16="http://schemas.microsoft.com/office/drawing/2014/main" id="{DEFE964D-9F1C-4F69-ADD3-0E1AB324E1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919" y="566022"/>
            <a:ext cx="1097280" cy="1097280"/>
          </a:xfrm>
          <a:prstGeom prst="rect">
            <a:avLst/>
          </a:prstGeom>
        </p:spPr>
      </p:pic>
      <p:pic>
        <p:nvPicPr>
          <p:cNvPr id="9" name="Graphic 8">
            <a:extLst>
              <a:ext uri="{FF2B5EF4-FFF2-40B4-BE49-F238E27FC236}">
                <a16:creationId xmlns:a16="http://schemas.microsoft.com/office/drawing/2014/main" id="{35127EDA-5861-47AB-8729-620CFC7DAC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
        <p:nvSpPr>
          <p:cNvPr id="6" name="Rectangle 2">
            <a:extLst>
              <a:ext uri="{FF2B5EF4-FFF2-40B4-BE49-F238E27FC236}">
                <a16:creationId xmlns:a16="http://schemas.microsoft.com/office/drawing/2014/main" id="{A1F42142-5E07-4E92-9B55-31B362D64EE0}"/>
              </a:ext>
            </a:extLst>
          </p:cNvPr>
          <p:cNvSpPr>
            <a:spLocks noGrp="1" noChangeArrowheads="1"/>
          </p:cNvSpPr>
          <p:nvPr>
            <p:ph idx="1"/>
          </p:nvPr>
        </p:nvSpPr>
        <p:spPr bwMode="auto">
          <a:xfrm>
            <a:off x="5863077" y="1849645"/>
            <a:ext cx="442339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1800" dirty="0"/>
              <a:t>import csv</a:t>
            </a:r>
          </a:p>
          <a:p>
            <a:pPr marL="0" lvl="0" indent="0" eaLnBrk="0" fontAlgn="base" hangingPunct="0">
              <a:lnSpc>
                <a:spcPct val="100000"/>
              </a:lnSpc>
              <a:spcBef>
                <a:spcPct val="0"/>
              </a:spcBef>
              <a:spcAft>
                <a:spcPct val="0"/>
              </a:spcAft>
              <a:buNone/>
            </a:pPr>
            <a:endParaRPr lang="en-US" sz="1800" dirty="0"/>
          </a:p>
          <a:p>
            <a:pPr marL="0" lvl="0" indent="0" eaLnBrk="0" fontAlgn="base" hangingPunct="0">
              <a:lnSpc>
                <a:spcPct val="100000"/>
              </a:lnSpc>
              <a:spcBef>
                <a:spcPct val="0"/>
              </a:spcBef>
              <a:spcAft>
                <a:spcPct val="0"/>
              </a:spcAft>
              <a:buNone/>
            </a:pPr>
            <a:r>
              <a:rPr lang="en-US" sz="1800" dirty="0"/>
              <a:t>with open("students_Record.csv", "r") as file:</a:t>
            </a:r>
          </a:p>
          <a:p>
            <a:pPr marL="0" lvl="0" indent="0" eaLnBrk="0" fontAlgn="base" hangingPunct="0">
              <a:lnSpc>
                <a:spcPct val="100000"/>
              </a:lnSpc>
              <a:spcBef>
                <a:spcPct val="0"/>
              </a:spcBef>
              <a:spcAft>
                <a:spcPct val="0"/>
              </a:spcAft>
              <a:buNone/>
            </a:pPr>
            <a:r>
              <a:rPr lang="en-US" sz="1800" dirty="0"/>
              <a:t>    reader = </a:t>
            </a:r>
            <a:r>
              <a:rPr lang="en-US" sz="1800" dirty="0" err="1"/>
              <a:t>csv.reader</a:t>
            </a:r>
            <a:r>
              <a:rPr lang="en-US" sz="1800" dirty="0"/>
              <a:t>(file)</a:t>
            </a:r>
          </a:p>
          <a:p>
            <a:pPr marL="0" lvl="0" indent="0" eaLnBrk="0" fontAlgn="base" hangingPunct="0">
              <a:lnSpc>
                <a:spcPct val="100000"/>
              </a:lnSpc>
              <a:spcBef>
                <a:spcPct val="0"/>
              </a:spcBef>
              <a:spcAft>
                <a:spcPct val="0"/>
              </a:spcAft>
              <a:buNone/>
            </a:pPr>
            <a:r>
              <a:rPr lang="en-US" sz="1800" dirty="0"/>
              <a:t>    for row in reader:</a:t>
            </a:r>
          </a:p>
          <a:p>
            <a:pPr marL="0" lvl="0" indent="0" eaLnBrk="0" fontAlgn="base" hangingPunct="0">
              <a:lnSpc>
                <a:spcPct val="100000"/>
              </a:lnSpc>
              <a:spcBef>
                <a:spcPct val="0"/>
              </a:spcBef>
              <a:spcAft>
                <a:spcPct val="0"/>
              </a:spcAft>
              <a:buNone/>
            </a:pPr>
            <a:r>
              <a:rPr lang="en-US" sz="1800" dirty="0"/>
              <a:t>        print(row)</a:t>
            </a:r>
          </a:p>
        </p:txBody>
      </p:sp>
      <p:sp>
        <p:nvSpPr>
          <p:cNvPr id="3" name="TextBox 2">
            <a:extLst>
              <a:ext uri="{FF2B5EF4-FFF2-40B4-BE49-F238E27FC236}">
                <a16:creationId xmlns:a16="http://schemas.microsoft.com/office/drawing/2014/main" id="{DD462FAA-9BA5-4F72-A9F4-28D233E1ECEE}"/>
              </a:ext>
            </a:extLst>
          </p:cNvPr>
          <p:cNvSpPr txBox="1"/>
          <p:nvPr/>
        </p:nvSpPr>
        <p:spPr>
          <a:xfrm>
            <a:off x="1686869" y="2372865"/>
            <a:ext cx="1395167" cy="707886"/>
          </a:xfrm>
          <a:prstGeom prst="rect">
            <a:avLst/>
          </a:prstGeom>
          <a:noFill/>
        </p:spPr>
        <p:txBody>
          <a:bodyPr wrap="square" rtlCol="0">
            <a:spAutoFit/>
          </a:bodyPr>
          <a:lstStyle/>
          <a:p>
            <a:r>
              <a:rPr lang="en-US" sz="4000" b="1" dirty="0"/>
              <a:t>Code</a:t>
            </a:r>
            <a:endParaRPr lang="en-PK" sz="4000" b="1" dirty="0"/>
          </a:p>
        </p:txBody>
      </p:sp>
      <p:sp>
        <p:nvSpPr>
          <p:cNvPr id="4" name="Arrow: Right 3">
            <a:extLst>
              <a:ext uri="{FF2B5EF4-FFF2-40B4-BE49-F238E27FC236}">
                <a16:creationId xmlns:a16="http://schemas.microsoft.com/office/drawing/2014/main" id="{3F9F6807-0A63-437F-B82F-E40525D8B693}"/>
              </a:ext>
            </a:extLst>
          </p:cNvPr>
          <p:cNvSpPr/>
          <p:nvPr/>
        </p:nvSpPr>
        <p:spPr>
          <a:xfrm>
            <a:off x="3921683" y="2246041"/>
            <a:ext cx="1206631" cy="96153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PK" dirty="0"/>
          </a:p>
        </p:txBody>
      </p:sp>
      <p:sp>
        <p:nvSpPr>
          <p:cNvPr id="10" name="TextBox 9">
            <a:extLst>
              <a:ext uri="{FF2B5EF4-FFF2-40B4-BE49-F238E27FC236}">
                <a16:creationId xmlns:a16="http://schemas.microsoft.com/office/drawing/2014/main" id="{343435A1-C616-4B9B-9E92-EBC839CE97F5}"/>
              </a:ext>
            </a:extLst>
          </p:cNvPr>
          <p:cNvSpPr txBox="1"/>
          <p:nvPr/>
        </p:nvSpPr>
        <p:spPr>
          <a:xfrm>
            <a:off x="1507760" y="4654413"/>
            <a:ext cx="2130987" cy="707886"/>
          </a:xfrm>
          <a:prstGeom prst="rect">
            <a:avLst/>
          </a:prstGeom>
          <a:noFill/>
        </p:spPr>
        <p:txBody>
          <a:bodyPr wrap="square" rtlCol="0">
            <a:spAutoFit/>
          </a:bodyPr>
          <a:lstStyle/>
          <a:p>
            <a:r>
              <a:rPr lang="en-US" sz="4000" b="1" dirty="0"/>
              <a:t>Output</a:t>
            </a:r>
            <a:endParaRPr lang="en-PK" sz="4000" b="1" dirty="0"/>
          </a:p>
        </p:txBody>
      </p:sp>
      <p:sp>
        <p:nvSpPr>
          <p:cNvPr id="11" name="Arrow: Right 10">
            <a:extLst>
              <a:ext uri="{FF2B5EF4-FFF2-40B4-BE49-F238E27FC236}">
                <a16:creationId xmlns:a16="http://schemas.microsoft.com/office/drawing/2014/main" id="{BD61C5D4-0CAE-4587-A1D7-A78F198C53EB}"/>
              </a:ext>
            </a:extLst>
          </p:cNvPr>
          <p:cNvSpPr/>
          <p:nvPr/>
        </p:nvSpPr>
        <p:spPr>
          <a:xfrm>
            <a:off x="3921682" y="4464396"/>
            <a:ext cx="1206631" cy="96153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E751F510-0CA7-435F-AADB-5CCA444001F5}"/>
              </a:ext>
            </a:extLst>
          </p:cNvPr>
          <p:cNvPicPr>
            <a:picLocks noChangeAspect="1"/>
          </p:cNvPicPr>
          <p:nvPr/>
        </p:nvPicPr>
        <p:blipFill>
          <a:blip r:embed="rId6"/>
          <a:stretch>
            <a:fillRect/>
          </a:stretch>
        </p:blipFill>
        <p:spPr>
          <a:xfrm>
            <a:off x="5742986" y="4286741"/>
            <a:ext cx="4476750" cy="1847850"/>
          </a:xfrm>
          <a:prstGeom prst="rect">
            <a:avLst/>
          </a:prstGeom>
        </p:spPr>
      </p:pic>
    </p:spTree>
    <p:extLst>
      <p:ext uri="{BB962C8B-B14F-4D97-AF65-F5344CB8AC3E}">
        <p14:creationId xmlns:p14="http://schemas.microsoft.com/office/powerpoint/2010/main" val="653940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9B4E-C292-45AA-8116-562703040382}"/>
              </a:ext>
            </a:extLst>
          </p:cNvPr>
          <p:cNvSpPr>
            <a:spLocks noGrp="1"/>
          </p:cNvSpPr>
          <p:nvPr>
            <p:ph type="title"/>
          </p:nvPr>
        </p:nvSpPr>
        <p:spPr>
          <a:xfrm>
            <a:off x="2002688" y="379680"/>
            <a:ext cx="9950499" cy="1469965"/>
          </a:xfrm>
        </p:spPr>
        <p:txBody>
          <a:bodyPr anchor="ctr">
            <a:normAutofit/>
          </a:bodyPr>
          <a:lstStyle/>
          <a:p>
            <a:r>
              <a:rPr lang="en-US" dirty="0"/>
              <a:t>Example 2: Using </a:t>
            </a:r>
            <a:r>
              <a:rPr lang="en-US" dirty="0" err="1"/>
              <a:t>DictReader</a:t>
            </a:r>
            <a:r>
              <a:rPr lang="en-US" dirty="0"/>
              <a:t> (Access by Column Name)</a:t>
            </a:r>
            <a:endParaRPr lang="en-US" b="1" dirty="0"/>
          </a:p>
        </p:txBody>
      </p:sp>
      <p:pic>
        <p:nvPicPr>
          <p:cNvPr id="5" name="Graphic 4" descr="Open Book">
            <a:extLst>
              <a:ext uri="{FF2B5EF4-FFF2-40B4-BE49-F238E27FC236}">
                <a16:creationId xmlns:a16="http://schemas.microsoft.com/office/drawing/2014/main" id="{DEFE964D-9F1C-4F69-ADD3-0E1AB324E1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919" y="566022"/>
            <a:ext cx="1097280" cy="1097280"/>
          </a:xfrm>
          <a:prstGeom prst="rect">
            <a:avLst/>
          </a:prstGeom>
        </p:spPr>
      </p:pic>
      <p:pic>
        <p:nvPicPr>
          <p:cNvPr id="9" name="Graphic 8">
            <a:extLst>
              <a:ext uri="{FF2B5EF4-FFF2-40B4-BE49-F238E27FC236}">
                <a16:creationId xmlns:a16="http://schemas.microsoft.com/office/drawing/2014/main" id="{35127EDA-5861-47AB-8729-620CFC7DAC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
        <p:nvSpPr>
          <p:cNvPr id="6" name="Rectangle 2">
            <a:extLst>
              <a:ext uri="{FF2B5EF4-FFF2-40B4-BE49-F238E27FC236}">
                <a16:creationId xmlns:a16="http://schemas.microsoft.com/office/drawing/2014/main" id="{A1F42142-5E07-4E92-9B55-31B362D64EE0}"/>
              </a:ext>
            </a:extLst>
          </p:cNvPr>
          <p:cNvSpPr>
            <a:spLocks noGrp="1" noChangeArrowheads="1"/>
          </p:cNvSpPr>
          <p:nvPr>
            <p:ph idx="1"/>
          </p:nvPr>
        </p:nvSpPr>
        <p:spPr bwMode="auto">
          <a:xfrm>
            <a:off x="5863077" y="1849645"/>
            <a:ext cx="526092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1800" dirty="0"/>
              <a:t>import csv</a:t>
            </a:r>
          </a:p>
          <a:p>
            <a:pPr marL="0" lvl="0" indent="0" eaLnBrk="0" fontAlgn="base" hangingPunct="0">
              <a:lnSpc>
                <a:spcPct val="100000"/>
              </a:lnSpc>
              <a:spcBef>
                <a:spcPct val="0"/>
              </a:spcBef>
              <a:spcAft>
                <a:spcPct val="0"/>
              </a:spcAft>
              <a:buNone/>
            </a:pPr>
            <a:endParaRPr lang="en-US" sz="1800" dirty="0"/>
          </a:p>
          <a:p>
            <a:pPr marL="0" lvl="0" indent="0" eaLnBrk="0" fontAlgn="base" hangingPunct="0">
              <a:lnSpc>
                <a:spcPct val="100000"/>
              </a:lnSpc>
              <a:spcBef>
                <a:spcPct val="0"/>
              </a:spcBef>
              <a:spcAft>
                <a:spcPct val="0"/>
              </a:spcAft>
              <a:buNone/>
            </a:pPr>
            <a:r>
              <a:rPr lang="en-US" sz="1800" dirty="0"/>
              <a:t>with open("students_Record.csv", "r") as file:</a:t>
            </a:r>
          </a:p>
          <a:p>
            <a:pPr marL="0" lvl="0" indent="0" eaLnBrk="0" fontAlgn="base" hangingPunct="0">
              <a:lnSpc>
                <a:spcPct val="100000"/>
              </a:lnSpc>
              <a:spcBef>
                <a:spcPct val="0"/>
              </a:spcBef>
              <a:spcAft>
                <a:spcPct val="0"/>
              </a:spcAft>
              <a:buNone/>
            </a:pPr>
            <a:r>
              <a:rPr lang="en-US" sz="1800" dirty="0"/>
              <a:t>    reader = </a:t>
            </a:r>
            <a:r>
              <a:rPr lang="en-US" sz="1800" dirty="0" err="1"/>
              <a:t>csv.DictReader</a:t>
            </a:r>
            <a:r>
              <a:rPr lang="en-US" sz="1800" dirty="0"/>
              <a:t>(file)</a:t>
            </a:r>
          </a:p>
          <a:p>
            <a:pPr marL="0" lvl="0" indent="0" eaLnBrk="0" fontAlgn="base" hangingPunct="0">
              <a:lnSpc>
                <a:spcPct val="100000"/>
              </a:lnSpc>
              <a:spcBef>
                <a:spcPct val="0"/>
              </a:spcBef>
              <a:spcAft>
                <a:spcPct val="0"/>
              </a:spcAft>
              <a:buNone/>
            </a:pPr>
            <a:r>
              <a:rPr lang="en-US" sz="1800" dirty="0"/>
              <a:t>    for row in reader:</a:t>
            </a:r>
          </a:p>
          <a:p>
            <a:pPr marL="0" lvl="0" indent="0" eaLnBrk="0" fontAlgn="base" hangingPunct="0">
              <a:lnSpc>
                <a:spcPct val="100000"/>
              </a:lnSpc>
              <a:spcBef>
                <a:spcPct val="0"/>
              </a:spcBef>
              <a:spcAft>
                <a:spcPct val="0"/>
              </a:spcAft>
              <a:buNone/>
            </a:pPr>
            <a:r>
              <a:rPr lang="en-US" sz="1800" dirty="0"/>
              <a:t>        print(row["Name"], row["Math"], row["Science"])</a:t>
            </a:r>
          </a:p>
        </p:txBody>
      </p:sp>
      <p:sp>
        <p:nvSpPr>
          <p:cNvPr id="3" name="TextBox 2">
            <a:extLst>
              <a:ext uri="{FF2B5EF4-FFF2-40B4-BE49-F238E27FC236}">
                <a16:creationId xmlns:a16="http://schemas.microsoft.com/office/drawing/2014/main" id="{DD462FAA-9BA5-4F72-A9F4-28D233E1ECEE}"/>
              </a:ext>
            </a:extLst>
          </p:cNvPr>
          <p:cNvSpPr txBox="1"/>
          <p:nvPr/>
        </p:nvSpPr>
        <p:spPr>
          <a:xfrm>
            <a:off x="1686869" y="2372865"/>
            <a:ext cx="1395167" cy="707886"/>
          </a:xfrm>
          <a:prstGeom prst="rect">
            <a:avLst/>
          </a:prstGeom>
          <a:noFill/>
        </p:spPr>
        <p:txBody>
          <a:bodyPr wrap="square" rtlCol="0">
            <a:spAutoFit/>
          </a:bodyPr>
          <a:lstStyle/>
          <a:p>
            <a:r>
              <a:rPr lang="en-US" sz="4000" b="1" dirty="0"/>
              <a:t>Code</a:t>
            </a:r>
            <a:endParaRPr lang="en-PK" sz="4000" b="1" dirty="0"/>
          </a:p>
        </p:txBody>
      </p:sp>
      <p:sp>
        <p:nvSpPr>
          <p:cNvPr id="4" name="Arrow: Right 3">
            <a:extLst>
              <a:ext uri="{FF2B5EF4-FFF2-40B4-BE49-F238E27FC236}">
                <a16:creationId xmlns:a16="http://schemas.microsoft.com/office/drawing/2014/main" id="{3F9F6807-0A63-437F-B82F-E40525D8B693}"/>
              </a:ext>
            </a:extLst>
          </p:cNvPr>
          <p:cNvSpPr/>
          <p:nvPr/>
        </p:nvSpPr>
        <p:spPr>
          <a:xfrm>
            <a:off x="3921683" y="2246041"/>
            <a:ext cx="1206631" cy="96153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PK" dirty="0"/>
          </a:p>
        </p:txBody>
      </p:sp>
      <p:sp>
        <p:nvSpPr>
          <p:cNvPr id="10" name="TextBox 9">
            <a:extLst>
              <a:ext uri="{FF2B5EF4-FFF2-40B4-BE49-F238E27FC236}">
                <a16:creationId xmlns:a16="http://schemas.microsoft.com/office/drawing/2014/main" id="{343435A1-C616-4B9B-9E92-EBC839CE97F5}"/>
              </a:ext>
            </a:extLst>
          </p:cNvPr>
          <p:cNvSpPr txBox="1"/>
          <p:nvPr/>
        </p:nvSpPr>
        <p:spPr>
          <a:xfrm>
            <a:off x="1507760" y="4654413"/>
            <a:ext cx="2130987" cy="707886"/>
          </a:xfrm>
          <a:prstGeom prst="rect">
            <a:avLst/>
          </a:prstGeom>
          <a:noFill/>
        </p:spPr>
        <p:txBody>
          <a:bodyPr wrap="square" rtlCol="0">
            <a:spAutoFit/>
          </a:bodyPr>
          <a:lstStyle/>
          <a:p>
            <a:r>
              <a:rPr lang="en-US" sz="4000" b="1" dirty="0"/>
              <a:t>Output</a:t>
            </a:r>
            <a:endParaRPr lang="en-PK" sz="4000" b="1" dirty="0"/>
          </a:p>
        </p:txBody>
      </p:sp>
      <p:sp>
        <p:nvSpPr>
          <p:cNvPr id="11" name="Arrow: Right 10">
            <a:extLst>
              <a:ext uri="{FF2B5EF4-FFF2-40B4-BE49-F238E27FC236}">
                <a16:creationId xmlns:a16="http://schemas.microsoft.com/office/drawing/2014/main" id="{BD61C5D4-0CAE-4587-A1D7-A78F198C53EB}"/>
              </a:ext>
            </a:extLst>
          </p:cNvPr>
          <p:cNvSpPr/>
          <p:nvPr/>
        </p:nvSpPr>
        <p:spPr>
          <a:xfrm>
            <a:off x="3921682" y="4464396"/>
            <a:ext cx="1206631" cy="96153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PK" dirty="0"/>
          </a:p>
        </p:txBody>
      </p:sp>
      <p:pic>
        <p:nvPicPr>
          <p:cNvPr id="8" name="Picture 7">
            <a:extLst>
              <a:ext uri="{FF2B5EF4-FFF2-40B4-BE49-F238E27FC236}">
                <a16:creationId xmlns:a16="http://schemas.microsoft.com/office/drawing/2014/main" id="{4173A846-EB34-44A6-9DCC-4F6C3E899A76}"/>
              </a:ext>
            </a:extLst>
          </p:cNvPr>
          <p:cNvPicPr>
            <a:picLocks noChangeAspect="1"/>
          </p:cNvPicPr>
          <p:nvPr/>
        </p:nvPicPr>
        <p:blipFill>
          <a:blip r:embed="rId6"/>
          <a:stretch>
            <a:fillRect/>
          </a:stretch>
        </p:blipFill>
        <p:spPr>
          <a:xfrm>
            <a:off x="6114458" y="4336688"/>
            <a:ext cx="1971675" cy="1704975"/>
          </a:xfrm>
          <a:prstGeom prst="rect">
            <a:avLst/>
          </a:prstGeom>
        </p:spPr>
      </p:pic>
    </p:spTree>
    <p:extLst>
      <p:ext uri="{BB962C8B-B14F-4D97-AF65-F5344CB8AC3E}">
        <p14:creationId xmlns:p14="http://schemas.microsoft.com/office/powerpoint/2010/main" val="8661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9B4E-C292-45AA-8116-562703040382}"/>
              </a:ext>
            </a:extLst>
          </p:cNvPr>
          <p:cNvSpPr>
            <a:spLocks noGrp="1"/>
          </p:cNvSpPr>
          <p:nvPr>
            <p:ph type="title"/>
          </p:nvPr>
        </p:nvSpPr>
        <p:spPr>
          <a:xfrm>
            <a:off x="2002688" y="379680"/>
            <a:ext cx="9950499" cy="1469965"/>
          </a:xfrm>
        </p:spPr>
        <p:txBody>
          <a:bodyPr anchor="ctr">
            <a:normAutofit/>
          </a:bodyPr>
          <a:lstStyle/>
          <a:p>
            <a:r>
              <a:rPr lang="en-US" dirty="0"/>
              <a:t>🔹 Example 3: Calculate Total &amp; Average Marks</a:t>
            </a:r>
            <a:endParaRPr lang="en-US" b="1" dirty="0"/>
          </a:p>
        </p:txBody>
      </p:sp>
      <p:pic>
        <p:nvPicPr>
          <p:cNvPr id="5" name="Graphic 4" descr="Open Book">
            <a:extLst>
              <a:ext uri="{FF2B5EF4-FFF2-40B4-BE49-F238E27FC236}">
                <a16:creationId xmlns:a16="http://schemas.microsoft.com/office/drawing/2014/main" id="{DEFE964D-9F1C-4F69-ADD3-0E1AB324E1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919" y="566022"/>
            <a:ext cx="1097280" cy="1097280"/>
          </a:xfrm>
          <a:prstGeom prst="rect">
            <a:avLst/>
          </a:prstGeom>
        </p:spPr>
      </p:pic>
      <p:pic>
        <p:nvPicPr>
          <p:cNvPr id="9" name="Graphic 8">
            <a:extLst>
              <a:ext uri="{FF2B5EF4-FFF2-40B4-BE49-F238E27FC236}">
                <a16:creationId xmlns:a16="http://schemas.microsoft.com/office/drawing/2014/main" id="{35127EDA-5861-47AB-8729-620CFC7DAC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
        <p:nvSpPr>
          <p:cNvPr id="6" name="Rectangle 2">
            <a:extLst>
              <a:ext uri="{FF2B5EF4-FFF2-40B4-BE49-F238E27FC236}">
                <a16:creationId xmlns:a16="http://schemas.microsoft.com/office/drawing/2014/main" id="{A1F42142-5E07-4E92-9B55-31B362D64EE0}"/>
              </a:ext>
            </a:extLst>
          </p:cNvPr>
          <p:cNvSpPr>
            <a:spLocks noGrp="1" noChangeArrowheads="1"/>
          </p:cNvSpPr>
          <p:nvPr>
            <p:ph idx="1"/>
          </p:nvPr>
        </p:nvSpPr>
        <p:spPr bwMode="auto">
          <a:xfrm>
            <a:off x="5195938" y="1386211"/>
            <a:ext cx="692036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1800" dirty="0"/>
              <a:t>import csv</a:t>
            </a:r>
          </a:p>
          <a:p>
            <a:pPr marL="0" lvl="0" indent="0" eaLnBrk="0" fontAlgn="base" hangingPunct="0">
              <a:lnSpc>
                <a:spcPct val="100000"/>
              </a:lnSpc>
              <a:spcBef>
                <a:spcPct val="0"/>
              </a:spcBef>
              <a:spcAft>
                <a:spcPct val="0"/>
              </a:spcAft>
              <a:buNone/>
            </a:pPr>
            <a:endParaRPr lang="en-US" sz="1800" dirty="0"/>
          </a:p>
          <a:p>
            <a:pPr marL="0" lvl="0" indent="0" eaLnBrk="0" fontAlgn="base" hangingPunct="0">
              <a:lnSpc>
                <a:spcPct val="100000"/>
              </a:lnSpc>
              <a:spcBef>
                <a:spcPct val="0"/>
              </a:spcBef>
              <a:spcAft>
                <a:spcPct val="0"/>
              </a:spcAft>
              <a:buNone/>
            </a:pPr>
            <a:r>
              <a:rPr lang="en-US" sz="1800" dirty="0"/>
              <a:t>with open("students_Record.csv", "r") as file:</a:t>
            </a:r>
          </a:p>
          <a:p>
            <a:pPr marL="0" lvl="0" indent="0" eaLnBrk="0" fontAlgn="base" hangingPunct="0">
              <a:lnSpc>
                <a:spcPct val="100000"/>
              </a:lnSpc>
              <a:spcBef>
                <a:spcPct val="0"/>
              </a:spcBef>
              <a:spcAft>
                <a:spcPct val="0"/>
              </a:spcAft>
              <a:buNone/>
            </a:pPr>
            <a:r>
              <a:rPr lang="en-US" sz="1800" dirty="0"/>
              <a:t>    reader = </a:t>
            </a:r>
            <a:r>
              <a:rPr lang="en-US" sz="1800" dirty="0" err="1"/>
              <a:t>csv.DictReader</a:t>
            </a:r>
            <a:r>
              <a:rPr lang="en-US" sz="1800" dirty="0"/>
              <a:t>(file)</a:t>
            </a:r>
          </a:p>
          <a:p>
            <a:pPr marL="0" lvl="0" indent="0" eaLnBrk="0" fontAlgn="base" hangingPunct="0">
              <a:lnSpc>
                <a:spcPct val="100000"/>
              </a:lnSpc>
              <a:spcBef>
                <a:spcPct val="0"/>
              </a:spcBef>
              <a:spcAft>
                <a:spcPct val="0"/>
              </a:spcAft>
              <a:buNone/>
            </a:pPr>
            <a:r>
              <a:rPr lang="en-US" sz="1800" dirty="0"/>
              <a:t>    for row in reader:</a:t>
            </a:r>
          </a:p>
          <a:p>
            <a:pPr marL="0" lvl="0" indent="0" eaLnBrk="0" fontAlgn="base" hangingPunct="0">
              <a:lnSpc>
                <a:spcPct val="100000"/>
              </a:lnSpc>
              <a:spcBef>
                <a:spcPct val="0"/>
              </a:spcBef>
              <a:spcAft>
                <a:spcPct val="0"/>
              </a:spcAft>
              <a:buNone/>
            </a:pPr>
            <a:r>
              <a:rPr lang="en-US" sz="1800" dirty="0"/>
              <a:t>        total = int(row["Math"]) + int(row["Science"]) + int(row["English"])</a:t>
            </a:r>
          </a:p>
          <a:p>
            <a:pPr marL="0" lvl="0" indent="0" eaLnBrk="0" fontAlgn="base" hangingPunct="0">
              <a:lnSpc>
                <a:spcPct val="100000"/>
              </a:lnSpc>
              <a:spcBef>
                <a:spcPct val="0"/>
              </a:spcBef>
              <a:spcAft>
                <a:spcPct val="0"/>
              </a:spcAft>
              <a:buNone/>
            </a:pPr>
            <a:r>
              <a:rPr lang="en-US" sz="1800" dirty="0"/>
              <a:t>        average = total / 3</a:t>
            </a:r>
          </a:p>
          <a:p>
            <a:pPr marL="0" lvl="0" indent="0" eaLnBrk="0" fontAlgn="base" hangingPunct="0">
              <a:lnSpc>
                <a:spcPct val="100000"/>
              </a:lnSpc>
              <a:spcBef>
                <a:spcPct val="0"/>
              </a:spcBef>
              <a:spcAft>
                <a:spcPct val="0"/>
              </a:spcAft>
              <a:buNone/>
            </a:pPr>
            <a:r>
              <a:rPr lang="en-US" sz="1800" dirty="0"/>
              <a:t>        print(f"{row['Name']} → Total: {total}, Average: {average:.2f}")</a:t>
            </a:r>
          </a:p>
        </p:txBody>
      </p:sp>
      <p:sp>
        <p:nvSpPr>
          <p:cNvPr id="3" name="TextBox 2">
            <a:extLst>
              <a:ext uri="{FF2B5EF4-FFF2-40B4-BE49-F238E27FC236}">
                <a16:creationId xmlns:a16="http://schemas.microsoft.com/office/drawing/2014/main" id="{DD462FAA-9BA5-4F72-A9F4-28D233E1ECEE}"/>
              </a:ext>
            </a:extLst>
          </p:cNvPr>
          <p:cNvSpPr txBox="1"/>
          <p:nvPr/>
        </p:nvSpPr>
        <p:spPr>
          <a:xfrm>
            <a:off x="1686869" y="2372865"/>
            <a:ext cx="1395167" cy="707886"/>
          </a:xfrm>
          <a:prstGeom prst="rect">
            <a:avLst/>
          </a:prstGeom>
          <a:noFill/>
        </p:spPr>
        <p:txBody>
          <a:bodyPr wrap="square" rtlCol="0">
            <a:spAutoFit/>
          </a:bodyPr>
          <a:lstStyle/>
          <a:p>
            <a:r>
              <a:rPr lang="en-US" sz="4000" b="1" dirty="0"/>
              <a:t>Code</a:t>
            </a:r>
            <a:endParaRPr lang="en-PK" sz="4000" b="1" dirty="0"/>
          </a:p>
        </p:txBody>
      </p:sp>
      <p:sp>
        <p:nvSpPr>
          <p:cNvPr id="4" name="Arrow: Right 3">
            <a:extLst>
              <a:ext uri="{FF2B5EF4-FFF2-40B4-BE49-F238E27FC236}">
                <a16:creationId xmlns:a16="http://schemas.microsoft.com/office/drawing/2014/main" id="{3F9F6807-0A63-437F-B82F-E40525D8B693}"/>
              </a:ext>
            </a:extLst>
          </p:cNvPr>
          <p:cNvSpPr/>
          <p:nvPr/>
        </p:nvSpPr>
        <p:spPr>
          <a:xfrm>
            <a:off x="3921683" y="2246041"/>
            <a:ext cx="1206631" cy="96153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PK" dirty="0"/>
          </a:p>
        </p:txBody>
      </p:sp>
      <p:sp>
        <p:nvSpPr>
          <p:cNvPr id="10" name="TextBox 9">
            <a:extLst>
              <a:ext uri="{FF2B5EF4-FFF2-40B4-BE49-F238E27FC236}">
                <a16:creationId xmlns:a16="http://schemas.microsoft.com/office/drawing/2014/main" id="{343435A1-C616-4B9B-9E92-EBC839CE97F5}"/>
              </a:ext>
            </a:extLst>
          </p:cNvPr>
          <p:cNvSpPr txBox="1"/>
          <p:nvPr/>
        </p:nvSpPr>
        <p:spPr>
          <a:xfrm>
            <a:off x="1507760" y="4654413"/>
            <a:ext cx="2130987" cy="707886"/>
          </a:xfrm>
          <a:prstGeom prst="rect">
            <a:avLst/>
          </a:prstGeom>
          <a:noFill/>
        </p:spPr>
        <p:txBody>
          <a:bodyPr wrap="square" rtlCol="0">
            <a:spAutoFit/>
          </a:bodyPr>
          <a:lstStyle/>
          <a:p>
            <a:r>
              <a:rPr lang="en-US" sz="4000" b="1" dirty="0"/>
              <a:t>Output</a:t>
            </a:r>
            <a:endParaRPr lang="en-PK" sz="4000" b="1" dirty="0"/>
          </a:p>
        </p:txBody>
      </p:sp>
      <p:sp>
        <p:nvSpPr>
          <p:cNvPr id="11" name="Arrow: Right 10">
            <a:extLst>
              <a:ext uri="{FF2B5EF4-FFF2-40B4-BE49-F238E27FC236}">
                <a16:creationId xmlns:a16="http://schemas.microsoft.com/office/drawing/2014/main" id="{BD61C5D4-0CAE-4587-A1D7-A78F198C53EB}"/>
              </a:ext>
            </a:extLst>
          </p:cNvPr>
          <p:cNvSpPr/>
          <p:nvPr/>
        </p:nvSpPr>
        <p:spPr>
          <a:xfrm>
            <a:off x="3921682" y="4464396"/>
            <a:ext cx="1206631" cy="96153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PK" dirty="0"/>
          </a:p>
        </p:txBody>
      </p:sp>
      <p:pic>
        <p:nvPicPr>
          <p:cNvPr id="7" name="Picture 6">
            <a:extLst>
              <a:ext uri="{FF2B5EF4-FFF2-40B4-BE49-F238E27FC236}">
                <a16:creationId xmlns:a16="http://schemas.microsoft.com/office/drawing/2014/main" id="{A402E595-A8E7-4645-B119-C5A9328D7B9C}"/>
              </a:ext>
            </a:extLst>
          </p:cNvPr>
          <p:cNvPicPr>
            <a:picLocks noChangeAspect="1"/>
          </p:cNvPicPr>
          <p:nvPr/>
        </p:nvPicPr>
        <p:blipFill>
          <a:blip r:embed="rId6"/>
          <a:stretch>
            <a:fillRect/>
          </a:stretch>
        </p:blipFill>
        <p:spPr>
          <a:xfrm>
            <a:off x="5766348" y="4317627"/>
            <a:ext cx="4095750" cy="1438275"/>
          </a:xfrm>
          <a:prstGeom prst="rect">
            <a:avLst/>
          </a:prstGeom>
        </p:spPr>
      </p:pic>
    </p:spTree>
    <p:extLst>
      <p:ext uri="{BB962C8B-B14F-4D97-AF65-F5344CB8AC3E}">
        <p14:creationId xmlns:p14="http://schemas.microsoft.com/office/powerpoint/2010/main" val="808976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9B4E-C292-45AA-8116-562703040382}"/>
              </a:ext>
            </a:extLst>
          </p:cNvPr>
          <p:cNvSpPr>
            <a:spLocks noGrp="1"/>
          </p:cNvSpPr>
          <p:nvPr>
            <p:ph type="title"/>
          </p:nvPr>
        </p:nvSpPr>
        <p:spPr>
          <a:xfrm>
            <a:off x="2002688" y="379680"/>
            <a:ext cx="9950499" cy="1469965"/>
          </a:xfrm>
        </p:spPr>
        <p:txBody>
          <a:bodyPr anchor="ctr">
            <a:normAutofit/>
          </a:bodyPr>
          <a:lstStyle/>
          <a:p>
            <a:r>
              <a:rPr lang="en-US" dirty="0"/>
              <a:t>🔹 Example 4: Save Results into a New CSV</a:t>
            </a:r>
            <a:endParaRPr lang="en-US" b="1" dirty="0"/>
          </a:p>
        </p:txBody>
      </p:sp>
      <p:pic>
        <p:nvPicPr>
          <p:cNvPr id="5" name="Graphic 4" descr="Open Book">
            <a:extLst>
              <a:ext uri="{FF2B5EF4-FFF2-40B4-BE49-F238E27FC236}">
                <a16:creationId xmlns:a16="http://schemas.microsoft.com/office/drawing/2014/main" id="{DEFE964D-9F1C-4F69-ADD3-0E1AB324E1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919" y="566022"/>
            <a:ext cx="1097280" cy="1097280"/>
          </a:xfrm>
          <a:prstGeom prst="rect">
            <a:avLst/>
          </a:prstGeom>
        </p:spPr>
      </p:pic>
      <p:pic>
        <p:nvPicPr>
          <p:cNvPr id="9" name="Graphic 8">
            <a:extLst>
              <a:ext uri="{FF2B5EF4-FFF2-40B4-BE49-F238E27FC236}">
                <a16:creationId xmlns:a16="http://schemas.microsoft.com/office/drawing/2014/main" id="{35127EDA-5861-47AB-8729-620CFC7DAC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
        <p:nvSpPr>
          <p:cNvPr id="6" name="Rectangle 2">
            <a:extLst>
              <a:ext uri="{FF2B5EF4-FFF2-40B4-BE49-F238E27FC236}">
                <a16:creationId xmlns:a16="http://schemas.microsoft.com/office/drawing/2014/main" id="{A1F42142-5E07-4E92-9B55-31B362D64EE0}"/>
              </a:ext>
            </a:extLst>
          </p:cNvPr>
          <p:cNvSpPr>
            <a:spLocks noGrp="1" noChangeArrowheads="1"/>
          </p:cNvSpPr>
          <p:nvPr>
            <p:ph idx="1"/>
          </p:nvPr>
        </p:nvSpPr>
        <p:spPr bwMode="auto">
          <a:xfrm>
            <a:off x="5032824" y="1544998"/>
            <a:ext cx="6920363"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1800" dirty="0"/>
              <a:t>import csv</a:t>
            </a:r>
          </a:p>
          <a:p>
            <a:pPr marL="0" lvl="0" indent="0" eaLnBrk="0" fontAlgn="base" hangingPunct="0">
              <a:lnSpc>
                <a:spcPct val="100000"/>
              </a:lnSpc>
              <a:spcBef>
                <a:spcPct val="0"/>
              </a:spcBef>
              <a:spcAft>
                <a:spcPct val="0"/>
              </a:spcAft>
              <a:buNone/>
            </a:pPr>
            <a:endParaRPr lang="en-US" sz="1800" dirty="0"/>
          </a:p>
          <a:p>
            <a:pPr marL="0" lvl="0" indent="0" eaLnBrk="0" fontAlgn="base" hangingPunct="0">
              <a:lnSpc>
                <a:spcPct val="100000"/>
              </a:lnSpc>
              <a:spcBef>
                <a:spcPct val="0"/>
              </a:spcBef>
              <a:spcAft>
                <a:spcPct val="0"/>
              </a:spcAft>
              <a:buNone/>
            </a:pPr>
            <a:r>
              <a:rPr lang="en-US" sz="1800" dirty="0"/>
              <a:t>with open("students_Record.csv", "r") as file:</a:t>
            </a:r>
          </a:p>
          <a:p>
            <a:pPr marL="0" lvl="0" indent="0" eaLnBrk="0" fontAlgn="base" hangingPunct="0">
              <a:lnSpc>
                <a:spcPct val="100000"/>
              </a:lnSpc>
              <a:spcBef>
                <a:spcPct val="0"/>
              </a:spcBef>
              <a:spcAft>
                <a:spcPct val="0"/>
              </a:spcAft>
              <a:buNone/>
            </a:pPr>
            <a:r>
              <a:rPr lang="en-US" sz="1800" dirty="0"/>
              <a:t>    reader = </a:t>
            </a:r>
            <a:r>
              <a:rPr lang="en-US" sz="1800" dirty="0" err="1"/>
              <a:t>csv.DictReader</a:t>
            </a:r>
            <a:r>
              <a:rPr lang="en-US" sz="1800" dirty="0"/>
              <a:t>(file)</a:t>
            </a:r>
          </a:p>
          <a:p>
            <a:pPr marL="0" lvl="0" indent="0" eaLnBrk="0" fontAlgn="base" hangingPunct="0">
              <a:lnSpc>
                <a:spcPct val="100000"/>
              </a:lnSpc>
              <a:spcBef>
                <a:spcPct val="0"/>
              </a:spcBef>
              <a:spcAft>
                <a:spcPct val="0"/>
              </a:spcAft>
              <a:buNone/>
            </a:pPr>
            <a:r>
              <a:rPr lang="en-US" sz="1800" dirty="0"/>
              <a:t>    results = []</a:t>
            </a:r>
          </a:p>
          <a:p>
            <a:pPr marL="0" lvl="0" indent="0" eaLnBrk="0" fontAlgn="base" hangingPunct="0">
              <a:lnSpc>
                <a:spcPct val="100000"/>
              </a:lnSpc>
              <a:spcBef>
                <a:spcPct val="0"/>
              </a:spcBef>
              <a:spcAft>
                <a:spcPct val="0"/>
              </a:spcAft>
              <a:buNone/>
            </a:pPr>
            <a:endParaRPr lang="en-US" sz="1800" dirty="0"/>
          </a:p>
          <a:p>
            <a:pPr marL="0" lvl="0" indent="0" eaLnBrk="0" fontAlgn="base" hangingPunct="0">
              <a:lnSpc>
                <a:spcPct val="100000"/>
              </a:lnSpc>
              <a:spcBef>
                <a:spcPct val="0"/>
              </a:spcBef>
              <a:spcAft>
                <a:spcPct val="0"/>
              </a:spcAft>
              <a:buNone/>
            </a:pPr>
            <a:r>
              <a:rPr lang="en-US" sz="1800" dirty="0"/>
              <a:t>    for row in reader:</a:t>
            </a:r>
          </a:p>
          <a:p>
            <a:pPr marL="0" lvl="0" indent="0" eaLnBrk="0" fontAlgn="base" hangingPunct="0">
              <a:lnSpc>
                <a:spcPct val="100000"/>
              </a:lnSpc>
              <a:spcBef>
                <a:spcPct val="0"/>
              </a:spcBef>
              <a:spcAft>
                <a:spcPct val="0"/>
              </a:spcAft>
              <a:buNone/>
            </a:pPr>
            <a:r>
              <a:rPr lang="en-US" sz="1800" dirty="0"/>
              <a:t>        total = int(row["Math"]) + int(row["Science"]) + int(row["English"])</a:t>
            </a:r>
          </a:p>
          <a:p>
            <a:pPr marL="0" lvl="0" indent="0" eaLnBrk="0" fontAlgn="base" hangingPunct="0">
              <a:lnSpc>
                <a:spcPct val="100000"/>
              </a:lnSpc>
              <a:spcBef>
                <a:spcPct val="0"/>
              </a:spcBef>
              <a:spcAft>
                <a:spcPct val="0"/>
              </a:spcAft>
              <a:buNone/>
            </a:pPr>
            <a:r>
              <a:rPr lang="en-US" sz="1800" dirty="0"/>
              <a:t>        average = total / 3</a:t>
            </a:r>
          </a:p>
          <a:p>
            <a:pPr marL="0" lvl="0" indent="0" eaLnBrk="0" fontAlgn="base" hangingPunct="0">
              <a:lnSpc>
                <a:spcPct val="100000"/>
              </a:lnSpc>
              <a:spcBef>
                <a:spcPct val="0"/>
              </a:spcBef>
              <a:spcAft>
                <a:spcPct val="0"/>
              </a:spcAft>
              <a:buNone/>
            </a:pPr>
            <a:r>
              <a:rPr lang="en-US" sz="1800" dirty="0"/>
              <a:t>        </a:t>
            </a:r>
            <a:r>
              <a:rPr lang="en-US" sz="1800" dirty="0" err="1"/>
              <a:t>results.append</a:t>
            </a:r>
            <a:r>
              <a:rPr lang="en-US" sz="1800" dirty="0"/>
              <a:t>([row["Name"], total, round(average, 2)])</a:t>
            </a:r>
          </a:p>
          <a:p>
            <a:pPr marL="0" lvl="0" indent="0" eaLnBrk="0" fontAlgn="base" hangingPunct="0">
              <a:lnSpc>
                <a:spcPct val="100000"/>
              </a:lnSpc>
              <a:spcBef>
                <a:spcPct val="0"/>
              </a:spcBef>
              <a:spcAft>
                <a:spcPct val="0"/>
              </a:spcAft>
              <a:buNone/>
            </a:pPr>
            <a:endParaRPr lang="en-US" sz="1800" dirty="0"/>
          </a:p>
          <a:p>
            <a:pPr marL="0" lvl="0" indent="0" eaLnBrk="0" fontAlgn="base" hangingPunct="0">
              <a:lnSpc>
                <a:spcPct val="100000"/>
              </a:lnSpc>
              <a:spcBef>
                <a:spcPct val="0"/>
              </a:spcBef>
              <a:spcAft>
                <a:spcPct val="0"/>
              </a:spcAft>
              <a:buNone/>
            </a:pPr>
            <a:r>
              <a:rPr lang="en-US" sz="1800" dirty="0"/>
              <a:t>with open("results.csv", "w", newline="") as file:</a:t>
            </a:r>
          </a:p>
          <a:p>
            <a:pPr marL="0" lvl="0" indent="0" eaLnBrk="0" fontAlgn="base" hangingPunct="0">
              <a:lnSpc>
                <a:spcPct val="100000"/>
              </a:lnSpc>
              <a:spcBef>
                <a:spcPct val="0"/>
              </a:spcBef>
              <a:spcAft>
                <a:spcPct val="0"/>
              </a:spcAft>
              <a:buNone/>
            </a:pPr>
            <a:r>
              <a:rPr lang="en-US" sz="1800" dirty="0"/>
              <a:t>    writer = </a:t>
            </a:r>
            <a:r>
              <a:rPr lang="en-US" sz="1800" dirty="0" err="1"/>
              <a:t>csv.writer</a:t>
            </a:r>
            <a:r>
              <a:rPr lang="en-US" sz="1800" dirty="0"/>
              <a:t>(file)</a:t>
            </a:r>
          </a:p>
          <a:p>
            <a:pPr marL="0" lvl="0" indent="0" eaLnBrk="0" fontAlgn="base" hangingPunct="0">
              <a:lnSpc>
                <a:spcPct val="100000"/>
              </a:lnSpc>
              <a:spcBef>
                <a:spcPct val="0"/>
              </a:spcBef>
              <a:spcAft>
                <a:spcPct val="0"/>
              </a:spcAft>
              <a:buNone/>
            </a:pPr>
            <a:r>
              <a:rPr lang="en-US" sz="1800" dirty="0"/>
              <a:t>    </a:t>
            </a:r>
            <a:r>
              <a:rPr lang="en-US" sz="1800" dirty="0" err="1"/>
              <a:t>writer.writerow</a:t>
            </a:r>
            <a:r>
              <a:rPr lang="en-US" sz="1800" dirty="0"/>
              <a:t>(["Name", "Total Marks", "Average"])</a:t>
            </a:r>
          </a:p>
          <a:p>
            <a:pPr marL="0" lvl="0" indent="0" eaLnBrk="0" fontAlgn="base" hangingPunct="0">
              <a:lnSpc>
                <a:spcPct val="100000"/>
              </a:lnSpc>
              <a:spcBef>
                <a:spcPct val="0"/>
              </a:spcBef>
              <a:spcAft>
                <a:spcPct val="0"/>
              </a:spcAft>
              <a:buNone/>
            </a:pPr>
            <a:r>
              <a:rPr lang="en-US" sz="1800" dirty="0"/>
              <a:t>    </a:t>
            </a:r>
            <a:r>
              <a:rPr lang="en-US" sz="1800" dirty="0" err="1"/>
              <a:t>writer.writerows</a:t>
            </a:r>
            <a:r>
              <a:rPr lang="en-US" sz="1800" dirty="0"/>
              <a:t>(results)</a:t>
            </a:r>
          </a:p>
          <a:p>
            <a:pPr marL="0" lvl="0" indent="0" eaLnBrk="0" fontAlgn="base" hangingPunct="0">
              <a:lnSpc>
                <a:spcPct val="100000"/>
              </a:lnSpc>
              <a:spcBef>
                <a:spcPct val="0"/>
              </a:spcBef>
              <a:spcAft>
                <a:spcPct val="0"/>
              </a:spcAft>
              <a:buNone/>
            </a:pPr>
            <a:endParaRPr lang="en-US" sz="1800" dirty="0"/>
          </a:p>
          <a:p>
            <a:pPr marL="0" lvl="0" indent="0" eaLnBrk="0" fontAlgn="base" hangingPunct="0">
              <a:lnSpc>
                <a:spcPct val="100000"/>
              </a:lnSpc>
              <a:spcBef>
                <a:spcPct val="0"/>
              </a:spcBef>
              <a:spcAft>
                <a:spcPct val="0"/>
              </a:spcAft>
              <a:buNone/>
            </a:pPr>
            <a:r>
              <a:rPr lang="en-US" sz="1800" dirty="0"/>
              <a:t>print("results.csv created with totals and averages!")</a:t>
            </a:r>
          </a:p>
        </p:txBody>
      </p:sp>
      <p:sp>
        <p:nvSpPr>
          <p:cNvPr id="3" name="TextBox 2">
            <a:extLst>
              <a:ext uri="{FF2B5EF4-FFF2-40B4-BE49-F238E27FC236}">
                <a16:creationId xmlns:a16="http://schemas.microsoft.com/office/drawing/2014/main" id="{DD462FAA-9BA5-4F72-A9F4-28D233E1ECEE}"/>
              </a:ext>
            </a:extLst>
          </p:cNvPr>
          <p:cNvSpPr txBox="1"/>
          <p:nvPr/>
        </p:nvSpPr>
        <p:spPr>
          <a:xfrm>
            <a:off x="1686869" y="2372865"/>
            <a:ext cx="1395167" cy="707886"/>
          </a:xfrm>
          <a:prstGeom prst="rect">
            <a:avLst/>
          </a:prstGeom>
          <a:noFill/>
        </p:spPr>
        <p:txBody>
          <a:bodyPr wrap="square" rtlCol="0">
            <a:spAutoFit/>
          </a:bodyPr>
          <a:lstStyle/>
          <a:p>
            <a:r>
              <a:rPr lang="en-US" sz="4000" b="1" dirty="0"/>
              <a:t>Code</a:t>
            </a:r>
            <a:endParaRPr lang="en-PK" sz="4000" b="1" dirty="0"/>
          </a:p>
        </p:txBody>
      </p:sp>
      <p:sp>
        <p:nvSpPr>
          <p:cNvPr id="4" name="Arrow: Right 3">
            <a:extLst>
              <a:ext uri="{FF2B5EF4-FFF2-40B4-BE49-F238E27FC236}">
                <a16:creationId xmlns:a16="http://schemas.microsoft.com/office/drawing/2014/main" id="{3F9F6807-0A63-437F-B82F-E40525D8B693}"/>
              </a:ext>
            </a:extLst>
          </p:cNvPr>
          <p:cNvSpPr/>
          <p:nvPr/>
        </p:nvSpPr>
        <p:spPr>
          <a:xfrm>
            <a:off x="3269482" y="2290495"/>
            <a:ext cx="1206631" cy="96153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PK" dirty="0"/>
          </a:p>
        </p:txBody>
      </p:sp>
    </p:spTree>
    <p:extLst>
      <p:ext uri="{BB962C8B-B14F-4D97-AF65-F5344CB8AC3E}">
        <p14:creationId xmlns:p14="http://schemas.microsoft.com/office/powerpoint/2010/main" val="1350680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9B4E-C292-45AA-8116-562703040382}"/>
              </a:ext>
            </a:extLst>
          </p:cNvPr>
          <p:cNvSpPr>
            <a:spLocks noGrp="1"/>
          </p:cNvSpPr>
          <p:nvPr>
            <p:ph type="title"/>
          </p:nvPr>
        </p:nvSpPr>
        <p:spPr>
          <a:xfrm>
            <a:off x="2002688" y="379680"/>
            <a:ext cx="9950499" cy="1469965"/>
          </a:xfrm>
        </p:spPr>
        <p:txBody>
          <a:bodyPr anchor="ctr">
            <a:normAutofit/>
          </a:bodyPr>
          <a:lstStyle/>
          <a:p>
            <a:r>
              <a:rPr lang="en-US" dirty="0"/>
              <a:t>🔹 Example 5: Add Columns to the Same File</a:t>
            </a:r>
            <a:endParaRPr lang="en-US" b="1" dirty="0"/>
          </a:p>
        </p:txBody>
      </p:sp>
      <p:pic>
        <p:nvPicPr>
          <p:cNvPr id="5" name="Graphic 4" descr="Open Book">
            <a:extLst>
              <a:ext uri="{FF2B5EF4-FFF2-40B4-BE49-F238E27FC236}">
                <a16:creationId xmlns:a16="http://schemas.microsoft.com/office/drawing/2014/main" id="{DEFE964D-9F1C-4F69-ADD3-0E1AB324E1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919" y="566022"/>
            <a:ext cx="1097280" cy="1097280"/>
          </a:xfrm>
          <a:prstGeom prst="rect">
            <a:avLst/>
          </a:prstGeom>
        </p:spPr>
      </p:pic>
      <p:pic>
        <p:nvPicPr>
          <p:cNvPr id="9" name="Graphic 8">
            <a:extLst>
              <a:ext uri="{FF2B5EF4-FFF2-40B4-BE49-F238E27FC236}">
                <a16:creationId xmlns:a16="http://schemas.microsoft.com/office/drawing/2014/main" id="{35127EDA-5861-47AB-8729-620CFC7DAC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
        <p:nvSpPr>
          <p:cNvPr id="6" name="Rectangle 2">
            <a:extLst>
              <a:ext uri="{FF2B5EF4-FFF2-40B4-BE49-F238E27FC236}">
                <a16:creationId xmlns:a16="http://schemas.microsoft.com/office/drawing/2014/main" id="{A1F42142-5E07-4E92-9B55-31B362D64EE0}"/>
              </a:ext>
            </a:extLst>
          </p:cNvPr>
          <p:cNvSpPr>
            <a:spLocks noGrp="1" noChangeArrowheads="1"/>
          </p:cNvSpPr>
          <p:nvPr>
            <p:ph idx="1"/>
          </p:nvPr>
        </p:nvSpPr>
        <p:spPr bwMode="auto">
          <a:xfrm>
            <a:off x="5338482" y="1260146"/>
            <a:ext cx="6614705"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1600" dirty="0"/>
              <a:t>import csv</a:t>
            </a:r>
          </a:p>
          <a:p>
            <a:pPr marL="0" lvl="0" indent="0" eaLnBrk="0" fontAlgn="base" hangingPunct="0">
              <a:lnSpc>
                <a:spcPct val="100000"/>
              </a:lnSpc>
              <a:spcBef>
                <a:spcPct val="0"/>
              </a:spcBef>
              <a:spcAft>
                <a:spcPct val="0"/>
              </a:spcAft>
              <a:buNone/>
            </a:pPr>
            <a:r>
              <a:rPr lang="en-US" sz="1600" dirty="0"/>
              <a:t># Step 1: Read existing data</a:t>
            </a:r>
          </a:p>
          <a:p>
            <a:pPr marL="0" lvl="0" indent="0" eaLnBrk="0" fontAlgn="base" hangingPunct="0">
              <a:lnSpc>
                <a:spcPct val="100000"/>
              </a:lnSpc>
              <a:spcBef>
                <a:spcPct val="0"/>
              </a:spcBef>
              <a:spcAft>
                <a:spcPct val="0"/>
              </a:spcAft>
              <a:buNone/>
            </a:pPr>
            <a:r>
              <a:rPr lang="en-US" sz="1600" dirty="0"/>
              <a:t>with open("students_Record.csv", "r") as file:</a:t>
            </a:r>
          </a:p>
          <a:p>
            <a:pPr marL="0" lvl="0" indent="0" eaLnBrk="0" fontAlgn="base" hangingPunct="0">
              <a:lnSpc>
                <a:spcPct val="100000"/>
              </a:lnSpc>
              <a:spcBef>
                <a:spcPct val="0"/>
              </a:spcBef>
              <a:spcAft>
                <a:spcPct val="0"/>
              </a:spcAft>
              <a:buNone/>
            </a:pPr>
            <a:r>
              <a:rPr lang="en-US" sz="1600" dirty="0"/>
              <a:t>    reader = </a:t>
            </a:r>
            <a:r>
              <a:rPr lang="en-US" sz="1600" dirty="0" err="1"/>
              <a:t>csv.DictReader</a:t>
            </a:r>
            <a:r>
              <a:rPr lang="en-US" sz="1600" dirty="0"/>
              <a:t>(file)</a:t>
            </a:r>
          </a:p>
          <a:p>
            <a:pPr marL="0" lvl="0" indent="0" eaLnBrk="0" fontAlgn="base" hangingPunct="0">
              <a:lnSpc>
                <a:spcPct val="100000"/>
              </a:lnSpc>
              <a:spcBef>
                <a:spcPct val="0"/>
              </a:spcBef>
              <a:spcAft>
                <a:spcPct val="0"/>
              </a:spcAft>
              <a:buNone/>
            </a:pPr>
            <a:r>
              <a:rPr lang="en-US" sz="1600" dirty="0"/>
              <a:t>    rows = []</a:t>
            </a:r>
          </a:p>
          <a:p>
            <a:pPr marL="0" lvl="0" indent="0" eaLnBrk="0" fontAlgn="base" hangingPunct="0">
              <a:lnSpc>
                <a:spcPct val="100000"/>
              </a:lnSpc>
              <a:spcBef>
                <a:spcPct val="0"/>
              </a:spcBef>
              <a:spcAft>
                <a:spcPct val="0"/>
              </a:spcAft>
              <a:buNone/>
            </a:pPr>
            <a:r>
              <a:rPr lang="en-US" sz="1600" dirty="0"/>
              <a:t>    for row in reader:</a:t>
            </a:r>
          </a:p>
          <a:p>
            <a:pPr marL="0" lvl="0" indent="0" eaLnBrk="0" fontAlgn="base" hangingPunct="0">
              <a:lnSpc>
                <a:spcPct val="100000"/>
              </a:lnSpc>
              <a:spcBef>
                <a:spcPct val="0"/>
              </a:spcBef>
              <a:spcAft>
                <a:spcPct val="0"/>
              </a:spcAft>
              <a:buNone/>
            </a:pPr>
            <a:r>
              <a:rPr lang="en-US" sz="1600" dirty="0"/>
              <a:t>        total = int(row["Math"]) + int(row["Science"]) + int(row["English"])</a:t>
            </a:r>
          </a:p>
          <a:p>
            <a:pPr marL="0" lvl="0" indent="0" eaLnBrk="0" fontAlgn="base" hangingPunct="0">
              <a:lnSpc>
                <a:spcPct val="100000"/>
              </a:lnSpc>
              <a:spcBef>
                <a:spcPct val="0"/>
              </a:spcBef>
              <a:spcAft>
                <a:spcPct val="0"/>
              </a:spcAft>
              <a:buNone/>
            </a:pPr>
            <a:r>
              <a:rPr lang="en-US" sz="1600" dirty="0"/>
              <a:t>        average = total / 3</a:t>
            </a:r>
          </a:p>
          <a:p>
            <a:pPr marL="0" lvl="0" indent="0" eaLnBrk="0" fontAlgn="base" hangingPunct="0">
              <a:lnSpc>
                <a:spcPct val="100000"/>
              </a:lnSpc>
              <a:spcBef>
                <a:spcPct val="0"/>
              </a:spcBef>
              <a:spcAft>
                <a:spcPct val="0"/>
              </a:spcAft>
              <a:buNone/>
            </a:pPr>
            <a:r>
              <a:rPr lang="en-US" sz="1600" dirty="0"/>
              <a:t>        # Add new values directly into the row dictionary</a:t>
            </a:r>
          </a:p>
          <a:p>
            <a:pPr marL="0" lvl="0" indent="0" eaLnBrk="0" fontAlgn="base" hangingPunct="0">
              <a:lnSpc>
                <a:spcPct val="100000"/>
              </a:lnSpc>
              <a:spcBef>
                <a:spcPct val="0"/>
              </a:spcBef>
              <a:spcAft>
                <a:spcPct val="0"/>
              </a:spcAft>
              <a:buNone/>
            </a:pPr>
            <a:r>
              <a:rPr lang="en-US" sz="1600" dirty="0"/>
              <a:t>        row["Total Marks"] = total</a:t>
            </a:r>
          </a:p>
          <a:p>
            <a:pPr marL="0" lvl="0" indent="0" eaLnBrk="0" fontAlgn="base" hangingPunct="0">
              <a:lnSpc>
                <a:spcPct val="100000"/>
              </a:lnSpc>
              <a:spcBef>
                <a:spcPct val="0"/>
              </a:spcBef>
              <a:spcAft>
                <a:spcPct val="0"/>
              </a:spcAft>
              <a:buNone/>
            </a:pPr>
            <a:r>
              <a:rPr lang="en-US" sz="1600" dirty="0"/>
              <a:t>        row["Average"] = round(average, 2)</a:t>
            </a:r>
          </a:p>
          <a:p>
            <a:pPr marL="0" lvl="0" indent="0" eaLnBrk="0" fontAlgn="base" hangingPunct="0">
              <a:lnSpc>
                <a:spcPct val="100000"/>
              </a:lnSpc>
              <a:spcBef>
                <a:spcPct val="0"/>
              </a:spcBef>
              <a:spcAft>
                <a:spcPct val="0"/>
              </a:spcAft>
              <a:buNone/>
            </a:pPr>
            <a:r>
              <a:rPr lang="en-US" sz="1600" dirty="0"/>
              <a:t>        </a:t>
            </a:r>
            <a:r>
              <a:rPr lang="en-US" sz="1600" dirty="0" err="1"/>
              <a:t>rows.append</a:t>
            </a:r>
            <a:r>
              <a:rPr lang="en-US" sz="1600" dirty="0"/>
              <a:t>(row)</a:t>
            </a:r>
          </a:p>
          <a:p>
            <a:pPr marL="0" lvl="0" indent="0" eaLnBrk="0" fontAlgn="base" hangingPunct="0">
              <a:lnSpc>
                <a:spcPct val="100000"/>
              </a:lnSpc>
              <a:spcBef>
                <a:spcPct val="0"/>
              </a:spcBef>
              <a:spcAft>
                <a:spcPct val="0"/>
              </a:spcAft>
              <a:buNone/>
            </a:pPr>
            <a:r>
              <a:rPr lang="en-US" sz="1600" dirty="0"/>
              <a:t># Step 2: Get fieldnames (old + new columns)</a:t>
            </a:r>
          </a:p>
          <a:p>
            <a:pPr marL="0" lvl="0" indent="0" eaLnBrk="0" fontAlgn="base" hangingPunct="0">
              <a:lnSpc>
                <a:spcPct val="100000"/>
              </a:lnSpc>
              <a:spcBef>
                <a:spcPct val="0"/>
              </a:spcBef>
              <a:spcAft>
                <a:spcPct val="0"/>
              </a:spcAft>
              <a:buNone/>
            </a:pPr>
            <a:r>
              <a:rPr lang="en-US" sz="1600" dirty="0"/>
              <a:t>fieldnames = </a:t>
            </a:r>
            <a:r>
              <a:rPr lang="en-US" sz="1600" dirty="0" err="1"/>
              <a:t>reader.fieldnames</a:t>
            </a:r>
            <a:r>
              <a:rPr lang="en-US" sz="1600" dirty="0"/>
              <a:t> + ["Total Marks", "Average"]</a:t>
            </a:r>
          </a:p>
          <a:p>
            <a:pPr marL="0" lvl="0" indent="0" eaLnBrk="0" fontAlgn="base" hangingPunct="0">
              <a:lnSpc>
                <a:spcPct val="100000"/>
              </a:lnSpc>
              <a:spcBef>
                <a:spcPct val="0"/>
              </a:spcBef>
              <a:spcAft>
                <a:spcPct val="0"/>
              </a:spcAft>
              <a:buNone/>
            </a:pPr>
            <a:r>
              <a:rPr lang="en-US" sz="1600" dirty="0"/>
              <a:t># Step 3: Write back to the same CSV file</a:t>
            </a:r>
          </a:p>
          <a:p>
            <a:pPr marL="0" lvl="0" indent="0" eaLnBrk="0" fontAlgn="base" hangingPunct="0">
              <a:lnSpc>
                <a:spcPct val="100000"/>
              </a:lnSpc>
              <a:spcBef>
                <a:spcPct val="0"/>
              </a:spcBef>
              <a:spcAft>
                <a:spcPct val="0"/>
              </a:spcAft>
              <a:buNone/>
            </a:pPr>
            <a:r>
              <a:rPr lang="en-US" sz="1600" dirty="0"/>
              <a:t>with open("students.csv", "w", newline="") as file:</a:t>
            </a:r>
          </a:p>
          <a:p>
            <a:pPr marL="0" lvl="0" indent="0" eaLnBrk="0" fontAlgn="base" hangingPunct="0">
              <a:lnSpc>
                <a:spcPct val="100000"/>
              </a:lnSpc>
              <a:spcBef>
                <a:spcPct val="0"/>
              </a:spcBef>
              <a:spcAft>
                <a:spcPct val="0"/>
              </a:spcAft>
              <a:buNone/>
            </a:pPr>
            <a:r>
              <a:rPr lang="en-US" sz="1600" dirty="0"/>
              <a:t>    writer = </a:t>
            </a:r>
            <a:r>
              <a:rPr lang="en-US" sz="1600" dirty="0" err="1"/>
              <a:t>csv.DictWriter</a:t>
            </a:r>
            <a:r>
              <a:rPr lang="en-US" sz="1600" dirty="0"/>
              <a:t>(file, fieldnames=fieldnames)</a:t>
            </a:r>
          </a:p>
          <a:p>
            <a:pPr marL="0" lvl="0" indent="0" eaLnBrk="0" fontAlgn="base" hangingPunct="0">
              <a:lnSpc>
                <a:spcPct val="100000"/>
              </a:lnSpc>
              <a:spcBef>
                <a:spcPct val="0"/>
              </a:spcBef>
              <a:spcAft>
                <a:spcPct val="0"/>
              </a:spcAft>
              <a:buNone/>
            </a:pPr>
            <a:r>
              <a:rPr lang="en-US" sz="1600" dirty="0"/>
              <a:t>    </a:t>
            </a:r>
            <a:r>
              <a:rPr lang="en-US" sz="1600" dirty="0" err="1"/>
              <a:t>writer.writeheader</a:t>
            </a:r>
            <a:r>
              <a:rPr lang="en-US" sz="1600" dirty="0"/>
              <a:t>()</a:t>
            </a:r>
          </a:p>
          <a:p>
            <a:pPr marL="0" lvl="0" indent="0" eaLnBrk="0" fontAlgn="base" hangingPunct="0">
              <a:lnSpc>
                <a:spcPct val="100000"/>
              </a:lnSpc>
              <a:spcBef>
                <a:spcPct val="0"/>
              </a:spcBef>
              <a:spcAft>
                <a:spcPct val="0"/>
              </a:spcAft>
              <a:buNone/>
            </a:pPr>
            <a:r>
              <a:rPr lang="en-US" sz="1600" dirty="0"/>
              <a:t>    </a:t>
            </a:r>
            <a:r>
              <a:rPr lang="en-US" sz="1600" dirty="0" err="1"/>
              <a:t>writer.writerows</a:t>
            </a:r>
            <a:r>
              <a:rPr lang="en-US" sz="1600" dirty="0"/>
              <a:t>(rows)</a:t>
            </a:r>
          </a:p>
          <a:p>
            <a:pPr marL="0" lvl="0" indent="0" eaLnBrk="0" fontAlgn="base" hangingPunct="0">
              <a:lnSpc>
                <a:spcPct val="100000"/>
              </a:lnSpc>
              <a:spcBef>
                <a:spcPct val="0"/>
              </a:spcBef>
              <a:spcAft>
                <a:spcPct val="0"/>
              </a:spcAft>
              <a:buNone/>
            </a:pPr>
            <a:r>
              <a:rPr lang="en-US" sz="1600" dirty="0"/>
              <a:t>print("students.csv updated with totals and averages!")</a:t>
            </a:r>
          </a:p>
        </p:txBody>
      </p:sp>
      <p:sp>
        <p:nvSpPr>
          <p:cNvPr id="3" name="TextBox 2">
            <a:extLst>
              <a:ext uri="{FF2B5EF4-FFF2-40B4-BE49-F238E27FC236}">
                <a16:creationId xmlns:a16="http://schemas.microsoft.com/office/drawing/2014/main" id="{DD462FAA-9BA5-4F72-A9F4-28D233E1ECEE}"/>
              </a:ext>
            </a:extLst>
          </p:cNvPr>
          <p:cNvSpPr txBox="1"/>
          <p:nvPr/>
        </p:nvSpPr>
        <p:spPr>
          <a:xfrm>
            <a:off x="1686869" y="2372865"/>
            <a:ext cx="1395167" cy="707886"/>
          </a:xfrm>
          <a:prstGeom prst="rect">
            <a:avLst/>
          </a:prstGeom>
          <a:noFill/>
        </p:spPr>
        <p:txBody>
          <a:bodyPr wrap="square" rtlCol="0">
            <a:spAutoFit/>
          </a:bodyPr>
          <a:lstStyle/>
          <a:p>
            <a:r>
              <a:rPr lang="en-US" sz="4000" b="1" dirty="0"/>
              <a:t>Code</a:t>
            </a:r>
            <a:endParaRPr lang="en-PK" sz="4000" b="1" dirty="0"/>
          </a:p>
        </p:txBody>
      </p:sp>
      <p:sp>
        <p:nvSpPr>
          <p:cNvPr id="4" name="Arrow: Right 3">
            <a:extLst>
              <a:ext uri="{FF2B5EF4-FFF2-40B4-BE49-F238E27FC236}">
                <a16:creationId xmlns:a16="http://schemas.microsoft.com/office/drawing/2014/main" id="{3F9F6807-0A63-437F-B82F-E40525D8B693}"/>
              </a:ext>
            </a:extLst>
          </p:cNvPr>
          <p:cNvSpPr/>
          <p:nvPr/>
        </p:nvSpPr>
        <p:spPr>
          <a:xfrm>
            <a:off x="3269482" y="2290495"/>
            <a:ext cx="1206631" cy="96153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PK" dirty="0"/>
          </a:p>
        </p:txBody>
      </p:sp>
    </p:spTree>
    <p:extLst>
      <p:ext uri="{BB962C8B-B14F-4D97-AF65-F5344CB8AC3E}">
        <p14:creationId xmlns:p14="http://schemas.microsoft.com/office/powerpoint/2010/main" val="1904469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9B4E-C292-45AA-8116-562703040382}"/>
              </a:ext>
            </a:extLst>
          </p:cNvPr>
          <p:cNvSpPr>
            <a:spLocks noGrp="1"/>
          </p:cNvSpPr>
          <p:nvPr>
            <p:ph type="title"/>
          </p:nvPr>
        </p:nvSpPr>
        <p:spPr>
          <a:xfrm>
            <a:off x="2002688" y="379680"/>
            <a:ext cx="9950499" cy="1469965"/>
          </a:xfrm>
        </p:spPr>
        <p:txBody>
          <a:bodyPr anchor="ctr">
            <a:normAutofit/>
          </a:bodyPr>
          <a:lstStyle/>
          <a:p>
            <a:r>
              <a:rPr lang="en-US" dirty="0"/>
              <a:t>🔹 Example 6: Add a Row with </a:t>
            </a:r>
            <a:r>
              <a:rPr lang="en-US" dirty="0" err="1"/>
              <a:t>csv.writer</a:t>
            </a:r>
            <a:endParaRPr lang="en-US" b="1" dirty="0"/>
          </a:p>
        </p:txBody>
      </p:sp>
      <p:pic>
        <p:nvPicPr>
          <p:cNvPr id="5" name="Graphic 4" descr="Open Book">
            <a:extLst>
              <a:ext uri="{FF2B5EF4-FFF2-40B4-BE49-F238E27FC236}">
                <a16:creationId xmlns:a16="http://schemas.microsoft.com/office/drawing/2014/main" id="{DEFE964D-9F1C-4F69-ADD3-0E1AB324E1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919" y="566022"/>
            <a:ext cx="1097280" cy="1097280"/>
          </a:xfrm>
          <a:prstGeom prst="rect">
            <a:avLst/>
          </a:prstGeom>
        </p:spPr>
      </p:pic>
      <p:pic>
        <p:nvPicPr>
          <p:cNvPr id="9" name="Graphic 8">
            <a:extLst>
              <a:ext uri="{FF2B5EF4-FFF2-40B4-BE49-F238E27FC236}">
                <a16:creationId xmlns:a16="http://schemas.microsoft.com/office/drawing/2014/main" id="{35127EDA-5861-47AB-8729-620CFC7DAC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
        <p:nvSpPr>
          <p:cNvPr id="6" name="Rectangle 2">
            <a:extLst>
              <a:ext uri="{FF2B5EF4-FFF2-40B4-BE49-F238E27FC236}">
                <a16:creationId xmlns:a16="http://schemas.microsoft.com/office/drawing/2014/main" id="{A1F42142-5E07-4E92-9B55-31B362D64EE0}"/>
              </a:ext>
            </a:extLst>
          </p:cNvPr>
          <p:cNvSpPr>
            <a:spLocks noGrp="1" noChangeArrowheads="1"/>
          </p:cNvSpPr>
          <p:nvPr>
            <p:ph idx="1"/>
          </p:nvPr>
        </p:nvSpPr>
        <p:spPr bwMode="auto">
          <a:xfrm>
            <a:off x="5338482" y="2198864"/>
            <a:ext cx="661470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1800" dirty="0"/>
              <a:t>import csv</a:t>
            </a:r>
          </a:p>
          <a:p>
            <a:pPr marL="0" lvl="0" indent="0" eaLnBrk="0" fontAlgn="base" hangingPunct="0">
              <a:lnSpc>
                <a:spcPct val="100000"/>
              </a:lnSpc>
              <a:spcBef>
                <a:spcPct val="0"/>
              </a:spcBef>
              <a:spcAft>
                <a:spcPct val="0"/>
              </a:spcAft>
              <a:buNone/>
            </a:pPr>
            <a:endParaRPr lang="en-US" sz="1800" dirty="0"/>
          </a:p>
          <a:p>
            <a:pPr marL="0" lvl="0" indent="0" eaLnBrk="0" fontAlgn="base" hangingPunct="0">
              <a:lnSpc>
                <a:spcPct val="100000"/>
              </a:lnSpc>
              <a:spcBef>
                <a:spcPct val="0"/>
              </a:spcBef>
              <a:spcAft>
                <a:spcPct val="0"/>
              </a:spcAft>
              <a:buNone/>
            </a:pPr>
            <a:r>
              <a:rPr lang="en-US" sz="1800" dirty="0"/>
              <a:t># New row data</a:t>
            </a:r>
          </a:p>
          <a:p>
            <a:pPr marL="0" lvl="0" indent="0" eaLnBrk="0" fontAlgn="base" hangingPunct="0">
              <a:lnSpc>
                <a:spcPct val="100000"/>
              </a:lnSpc>
              <a:spcBef>
                <a:spcPct val="0"/>
              </a:spcBef>
              <a:spcAft>
                <a:spcPct val="0"/>
              </a:spcAft>
              <a:buNone/>
            </a:pPr>
            <a:r>
              <a:rPr lang="en-US" sz="1800" dirty="0" err="1"/>
              <a:t>new_student</a:t>
            </a:r>
            <a:r>
              <a:rPr lang="en-US" sz="1800" dirty="0"/>
              <a:t> = ["</a:t>
            </a:r>
            <a:r>
              <a:rPr lang="en-US" sz="1800" dirty="0" err="1"/>
              <a:t>Warda</a:t>
            </a:r>
            <a:r>
              <a:rPr lang="en-US" sz="1800" dirty="0"/>
              <a:t>", 88, 91, 85]  # Name, Math, Science, English</a:t>
            </a:r>
          </a:p>
          <a:p>
            <a:pPr marL="0" lvl="0" indent="0" eaLnBrk="0" fontAlgn="base" hangingPunct="0">
              <a:lnSpc>
                <a:spcPct val="100000"/>
              </a:lnSpc>
              <a:spcBef>
                <a:spcPct val="0"/>
              </a:spcBef>
              <a:spcAft>
                <a:spcPct val="0"/>
              </a:spcAft>
              <a:buNone/>
            </a:pPr>
            <a:endParaRPr lang="en-US" sz="1800" dirty="0"/>
          </a:p>
          <a:p>
            <a:pPr marL="0" lvl="0" indent="0" eaLnBrk="0" fontAlgn="base" hangingPunct="0">
              <a:lnSpc>
                <a:spcPct val="100000"/>
              </a:lnSpc>
              <a:spcBef>
                <a:spcPct val="0"/>
              </a:spcBef>
              <a:spcAft>
                <a:spcPct val="0"/>
              </a:spcAft>
              <a:buNone/>
            </a:pPr>
            <a:r>
              <a:rPr lang="en-US" sz="1800" dirty="0"/>
              <a:t># Append the new row to the file</a:t>
            </a:r>
          </a:p>
          <a:p>
            <a:pPr marL="0" lvl="0" indent="0" eaLnBrk="0" fontAlgn="base" hangingPunct="0">
              <a:lnSpc>
                <a:spcPct val="100000"/>
              </a:lnSpc>
              <a:spcBef>
                <a:spcPct val="0"/>
              </a:spcBef>
              <a:spcAft>
                <a:spcPct val="0"/>
              </a:spcAft>
              <a:buNone/>
            </a:pPr>
            <a:r>
              <a:rPr lang="en-US" sz="1800" dirty="0"/>
              <a:t>with open("students_Record.csv", "a", newline="") as file:</a:t>
            </a:r>
          </a:p>
          <a:p>
            <a:pPr marL="0" lvl="0" indent="0" eaLnBrk="0" fontAlgn="base" hangingPunct="0">
              <a:lnSpc>
                <a:spcPct val="100000"/>
              </a:lnSpc>
              <a:spcBef>
                <a:spcPct val="0"/>
              </a:spcBef>
              <a:spcAft>
                <a:spcPct val="0"/>
              </a:spcAft>
              <a:buNone/>
            </a:pPr>
            <a:r>
              <a:rPr lang="en-US" sz="1800" dirty="0"/>
              <a:t>    writer = </a:t>
            </a:r>
            <a:r>
              <a:rPr lang="en-US" sz="1800" dirty="0" err="1"/>
              <a:t>csv.writer</a:t>
            </a:r>
            <a:r>
              <a:rPr lang="en-US" sz="1800" dirty="0"/>
              <a:t>(file)</a:t>
            </a:r>
          </a:p>
          <a:p>
            <a:pPr marL="0" lvl="0" indent="0" eaLnBrk="0" fontAlgn="base" hangingPunct="0">
              <a:lnSpc>
                <a:spcPct val="100000"/>
              </a:lnSpc>
              <a:spcBef>
                <a:spcPct val="0"/>
              </a:spcBef>
              <a:spcAft>
                <a:spcPct val="0"/>
              </a:spcAft>
              <a:buNone/>
            </a:pPr>
            <a:r>
              <a:rPr lang="en-US" sz="1800" dirty="0"/>
              <a:t>    </a:t>
            </a:r>
            <a:r>
              <a:rPr lang="en-US" sz="1800" dirty="0" err="1"/>
              <a:t>writer.writerow</a:t>
            </a:r>
            <a:r>
              <a:rPr lang="en-US" sz="1800" dirty="0"/>
              <a:t>(</a:t>
            </a:r>
            <a:r>
              <a:rPr lang="en-US" sz="1800" dirty="0" err="1"/>
              <a:t>new_student</a:t>
            </a:r>
            <a:r>
              <a:rPr lang="en-US" sz="1800" dirty="0"/>
              <a:t>)</a:t>
            </a:r>
          </a:p>
          <a:p>
            <a:pPr marL="0" lvl="0" indent="0" eaLnBrk="0" fontAlgn="base" hangingPunct="0">
              <a:lnSpc>
                <a:spcPct val="100000"/>
              </a:lnSpc>
              <a:spcBef>
                <a:spcPct val="0"/>
              </a:spcBef>
              <a:spcAft>
                <a:spcPct val="0"/>
              </a:spcAft>
              <a:buNone/>
            </a:pPr>
            <a:endParaRPr lang="en-US" sz="1800" dirty="0"/>
          </a:p>
          <a:p>
            <a:pPr marL="0" lvl="0" indent="0" eaLnBrk="0" fontAlgn="base" hangingPunct="0">
              <a:lnSpc>
                <a:spcPct val="100000"/>
              </a:lnSpc>
              <a:spcBef>
                <a:spcPct val="0"/>
              </a:spcBef>
              <a:spcAft>
                <a:spcPct val="0"/>
              </a:spcAft>
              <a:buNone/>
            </a:pPr>
            <a:r>
              <a:rPr lang="en-US" sz="1800" dirty="0"/>
              <a:t>print("New row added successfully!")</a:t>
            </a:r>
          </a:p>
        </p:txBody>
      </p:sp>
      <p:sp>
        <p:nvSpPr>
          <p:cNvPr id="3" name="TextBox 2">
            <a:extLst>
              <a:ext uri="{FF2B5EF4-FFF2-40B4-BE49-F238E27FC236}">
                <a16:creationId xmlns:a16="http://schemas.microsoft.com/office/drawing/2014/main" id="{DD462FAA-9BA5-4F72-A9F4-28D233E1ECEE}"/>
              </a:ext>
            </a:extLst>
          </p:cNvPr>
          <p:cNvSpPr txBox="1"/>
          <p:nvPr/>
        </p:nvSpPr>
        <p:spPr>
          <a:xfrm>
            <a:off x="1686869" y="2372865"/>
            <a:ext cx="1395167" cy="707886"/>
          </a:xfrm>
          <a:prstGeom prst="rect">
            <a:avLst/>
          </a:prstGeom>
          <a:noFill/>
        </p:spPr>
        <p:txBody>
          <a:bodyPr wrap="square" rtlCol="0">
            <a:spAutoFit/>
          </a:bodyPr>
          <a:lstStyle/>
          <a:p>
            <a:r>
              <a:rPr lang="en-US" sz="4000" b="1" dirty="0"/>
              <a:t>Code</a:t>
            </a:r>
            <a:endParaRPr lang="en-PK" sz="4000" b="1" dirty="0"/>
          </a:p>
        </p:txBody>
      </p:sp>
      <p:sp>
        <p:nvSpPr>
          <p:cNvPr id="4" name="Arrow: Right 3">
            <a:extLst>
              <a:ext uri="{FF2B5EF4-FFF2-40B4-BE49-F238E27FC236}">
                <a16:creationId xmlns:a16="http://schemas.microsoft.com/office/drawing/2014/main" id="{3F9F6807-0A63-437F-B82F-E40525D8B693}"/>
              </a:ext>
            </a:extLst>
          </p:cNvPr>
          <p:cNvSpPr/>
          <p:nvPr/>
        </p:nvSpPr>
        <p:spPr>
          <a:xfrm>
            <a:off x="3269482" y="2290495"/>
            <a:ext cx="1206631" cy="96153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PK" dirty="0"/>
          </a:p>
        </p:txBody>
      </p:sp>
    </p:spTree>
    <p:extLst>
      <p:ext uri="{BB962C8B-B14F-4D97-AF65-F5344CB8AC3E}">
        <p14:creationId xmlns:p14="http://schemas.microsoft.com/office/powerpoint/2010/main" val="221312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Graphic 10" descr="Books on Shelf">
            <a:extLst>
              <a:ext uri="{FF2B5EF4-FFF2-40B4-BE49-F238E27FC236}">
                <a16:creationId xmlns:a16="http://schemas.microsoft.com/office/drawing/2014/main" id="{18A239E6-97C0-4A74-8E7A-C9FD39A8C92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0041" y="982364"/>
            <a:ext cx="2659472" cy="2659472"/>
          </a:xfrm>
          <a:prstGeom prst="rect">
            <a:avLst/>
          </a:prstGeom>
        </p:spPr>
      </p:pic>
      <p:cxnSp>
        <p:nvCxnSpPr>
          <p:cNvPr id="16" name="Straight Connector 15">
            <a:extLst>
              <a:ext uri="{FF2B5EF4-FFF2-40B4-BE49-F238E27FC236}">
                <a16:creationId xmlns:a16="http://schemas.microsoft.com/office/drawing/2014/main" id="{DFDA47BC-3069-47F5-8257-24B3B1F76A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2927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5" name="Graphic 4" descr="Chat">
            <a:extLst>
              <a:ext uri="{FF2B5EF4-FFF2-40B4-BE49-F238E27FC236}">
                <a16:creationId xmlns:a16="http://schemas.microsoft.com/office/drawing/2014/main" id="{EB71843F-0A0B-4317-B205-4B0A0B97C0F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0143" y="983211"/>
            <a:ext cx="2646677" cy="2646677"/>
          </a:xfrm>
          <a:prstGeom prst="rect">
            <a:avLst/>
          </a:prstGeom>
        </p:spPr>
      </p:pic>
      <p:cxnSp>
        <p:nvCxnSpPr>
          <p:cNvPr id="20" name="Straight Connector 19">
            <a:extLst>
              <a:ext uri="{FF2B5EF4-FFF2-40B4-BE49-F238E27FC236}">
                <a16:creationId xmlns:a16="http://schemas.microsoft.com/office/drawing/2014/main" id="{942B920A-73AD-402A-8EEF-B88E1A9398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768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7" name="Graphic 6" descr="Blackboard">
            <a:extLst>
              <a:ext uri="{FF2B5EF4-FFF2-40B4-BE49-F238E27FC236}">
                <a16:creationId xmlns:a16="http://schemas.microsoft.com/office/drawing/2014/main" id="{2696A1A4-8E43-47F6-A6DC-A9ADAB053D8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56859" y="982364"/>
            <a:ext cx="2648371" cy="2648371"/>
          </a:xfrm>
          <a:prstGeom prst="rect">
            <a:avLst/>
          </a:prstGeom>
        </p:spPr>
      </p:pic>
      <p:cxnSp>
        <p:nvCxnSpPr>
          <p:cNvPr id="22" name="Straight Connector 21">
            <a:extLst>
              <a:ext uri="{FF2B5EF4-FFF2-40B4-BE49-F238E27FC236}">
                <a16:creationId xmlns:a16="http://schemas.microsoft.com/office/drawing/2014/main" id="{00C9EB70-BC82-414A-BF8D-AD7FC67276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6609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9" name="Graphic 8" descr="Open Book">
            <a:extLst>
              <a:ext uri="{FF2B5EF4-FFF2-40B4-BE49-F238E27FC236}">
                <a16:creationId xmlns:a16="http://schemas.microsoft.com/office/drawing/2014/main" id="{93E427C7-0218-4592-82DA-2431E4BF875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25269" y="1004677"/>
            <a:ext cx="2648372" cy="2648372"/>
          </a:xfrm>
          <a:prstGeom prst="rect">
            <a:avLst/>
          </a:prstGeom>
        </p:spPr>
      </p:pic>
      <p:sp>
        <p:nvSpPr>
          <p:cNvPr id="18" name="Rectangle 17">
            <a:extLst>
              <a:ext uri="{FF2B5EF4-FFF2-40B4-BE49-F238E27FC236}">
                <a16:creationId xmlns:a16="http://schemas.microsoft.com/office/drawing/2014/main" id="{7AE95D8F-9825-4222-8846-E3461598C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463354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561AC0E-7195-4ACF-AA0A-5E2923A987F7}"/>
              </a:ext>
            </a:extLst>
          </p:cNvPr>
          <p:cNvSpPr>
            <a:spLocks noGrp="1"/>
          </p:cNvSpPr>
          <p:nvPr>
            <p:ph type="ctrTitle"/>
          </p:nvPr>
        </p:nvSpPr>
        <p:spPr>
          <a:xfrm>
            <a:off x="320041" y="4153626"/>
            <a:ext cx="11139854" cy="1721163"/>
          </a:xfrm>
        </p:spPr>
        <p:txBody>
          <a:bodyPr>
            <a:normAutofit/>
          </a:bodyPr>
          <a:lstStyle/>
          <a:p>
            <a:r>
              <a:rPr lang="en-US" sz="5400" dirty="0">
                <a:solidFill>
                  <a:schemeClr val="bg1"/>
                </a:solidFill>
                <a:latin typeface="Franklin Gothic Book" panose="020B0503020102020204" pitchFamily="34" charset="0"/>
                <a:cs typeface="Segoe UI" panose="020B0502040204020203" pitchFamily="34" charset="0"/>
              </a:rPr>
              <a:t>THANK YOU</a:t>
            </a:r>
          </a:p>
        </p:txBody>
      </p:sp>
      <p:cxnSp>
        <p:nvCxnSpPr>
          <p:cNvPr id="24" name="Straight Connector 23">
            <a:extLst>
              <a:ext uri="{FF2B5EF4-FFF2-40B4-BE49-F238E27FC236}">
                <a16:creationId xmlns:a16="http://schemas.microsoft.com/office/drawing/2014/main" id="{3217665F-0036-444A-8D4A-33AF36A36A4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573869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96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4781794_Research presentation_RVA_v3" id="{DF2794B4-2314-4F87-8639-5DCB9EEE28EE}" vid="{3B969E49-204F-4FF6-BD10-D26195B8D4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3C7D9E6-B0D9-433E-BD46-EB60F64F4DA8}">
  <ds:schemaRefs>
    <ds:schemaRef ds:uri="http://purl.org/dc/terms/"/>
    <ds:schemaRef ds:uri="http://purl.org/dc/elements/1.1/"/>
    <ds:schemaRef ds:uri="http://schemas.openxmlformats.org/package/2006/metadata/core-properties"/>
    <ds:schemaRef ds:uri="http://www.w3.org/XML/1998/namespace"/>
    <ds:schemaRef ds:uri="http://schemas.microsoft.com/office/infopath/2007/PartnerControls"/>
    <ds:schemaRef ds:uri="http://schemas.microsoft.com/office/2006/documentManagement/types"/>
    <ds:schemaRef ds:uri="16c05727-aa75-4e4a-9b5f-8a80a1165891"/>
    <ds:schemaRef ds:uri="71af3243-3dd4-4a8d-8c0d-dd76da1f02a5"/>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5CA875DA-F9FD-4F83-A049-3B1027B542DE}">
  <ds:schemaRefs>
    <ds:schemaRef ds:uri="http://schemas.microsoft.com/sharepoint/v3/contenttype/forms"/>
  </ds:schemaRefs>
</ds:datastoreItem>
</file>

<file path=customXml/itemProps3.xml><?xml version="1.0" encoding="utf-8"?>
<ds:datastoreItem xmlns:ds="http://schemas.openxmlformats.org/officeDocument/2006/customXml" ds:itemID="{B2AB02E3-5ADF-4BF0-9C1B-35CDF3FE95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Research presentation</Template>
  <TotalTime>0</TotalTime>
  <Words>2653</Words>
  <Application>Microsoft Office PowerPoint</Application>
  <PresentationFormat>Widescreen</PresentationFormat>
  <Paragraphs>263</Paragraphs>
  <Slides>16</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Arial Unicode MS</vt:lpstr>
      <vt:lpstr>Calibri</vt:lpstr>
      <vt:lpstr>Calibri Light</vt:lpstr>
      <vt:lpstr>Franklin Gothic Book</vt:lpstr>
      <vt:lpstr>Segoe UI</vt:lpstr>
      <vt:lpstr>Office Theme</vt:lpstr>
      <vt:lpstr>CSV FILES</vt:lpstr>
      <vt:lpstr>WHAT ARE CSV FILE</vt:lpstr>
      <vt:lpstr>Introduction</vt:lpstr>
      <vt:lpstr>Difference between csv and xls/xlsx</vt:lpstr>
      <vt:lpstr>Point to noted</vt:lpstr>
      <vt:lpstr>Create CSV Files</vt:lpstr>
      <vt:lpstr>Method 1: Create CSV Manually</vt:lpstr>
      <vt:lpstr>Method 1: Create CSV Manually</vt:lpstr>
      <vt:lpstr>🔹 Method 2: Create CSV with Python</vt:lpstr>
      <vt:lpstr>🔹 Example 1: Read &amp; Display Data </vt:lpstr>
      <vt:lpstr>Example 2: Using DictReader (Access by Column Name)</vt:lpstr>
      <vt:lpstr>🔹 Example 3: Calculate Total &amp; Average Marks</vt:lpstr>
      <vt:lpstr>🔹 Example 4: Save Results into a New CSV</vt:lpstr>
      <vt:lpstr>🔹 Example 5: Add Columns to the Same File</vt:lpstr>
      <vt:lpstr>🔹 Example 6: Add a Row with csv.writer</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2024-11-23T08:04:26Z</dcterms:created>
  <dcterms:modified xsi:type="dcterms:W3CDTF">2025-10-02T03:45:54Z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